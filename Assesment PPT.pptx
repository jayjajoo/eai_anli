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2" r:id="rId14"/>
    <p:sldId id="268" r:id="rId15"/>
    <p:sldId id="269" r:id="rId16"/>
    <p:sldId id="270" r:id="rId17"/>
    <p:sldId id="273" r:id="rId18"/>
    <p:sldId id="271" r:id="rId19"/>
  </p:sldIdLst>
  <p:sldSz cx="18288000" cy="10287000"/>
  <p:notesSz cx="6858000" cy="9144000"/>
  <p:embeddedFontLst>
    <p:embeddedFont>
      <p:font typeface="Canva Sans Bold" panose="020B0604020202020204" charset="0"/>
      <p:regular r:id="rId20"/>
    </p:embeddedFont>
    <p:embeddedFont>
      <p:font typeface="DM Sans" pitchFamily="2" charset="0"/>
      <p:regular r:id="rId21"/>
    </p:embeddedFont>
    <p:embeddedFont>
      <p:font typeface="DM Sans Bold" charset="0"/>
      <p:regular r:id="rId22"/>
    </p:embeddedFont>
    <p:embeddedFont>
      <p:font typeface="DM Sans Bold Italics" panose="020B0604020202020204" charset="0"/>
      <p:regular r:id="rId23"/>
    </p:embeddedFont>
    <p:embeddedFont>
      <p:font typeface="Saira" panose="020B0604020202020204" charset="0"/>
      <p:regular r:id="rId24"/>
    </p:embeddedFont>
    <p:embeddedFont>
      <p:font typeface="Saira Bold"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33" d="100"/>
          <a:sy n="33" d="100"/>
        </p:scale>
        <p:origin x="1234" y="68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image" Target="../media/image16.sv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3.svg"/><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88632" y="1028700"/>
            <a:ext cx="603856" cy="498001"/>
          </a:xfrm>
          <a:custGeom>
            <a:avLst/>
            <a:gdLst/>
            <a:ahLst/>
            <a:cxnLst/>
            <a:rect l="l" t="t" r="r" b="b"/>
            <a:pathLst>
              <a:path w="603856" h="498001">
                <a:moveTo>
                  <a:pt x="0" y="0"/>
                </a:moveTo>
                <a:lnTo>
                  <a:pt x="603856" y="0"/>
                </a:lnTo>
                <a:lnTo>
                  <a:pt x="603856" y="498001"/>
                </a:lnTo>
                <a:lnTo>
                  <a:pt x="0" y="49800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7392607" y="3635269"/>
            <a:ext cx="9866693" cy="6870806"/>
          </a:xfrm>
          <a:custGeom>
            <a:avLst/>
            <a:gdLst/>
            <a:ahLst/>
            <a:cxnLst/>
            <a:rect l="l" t="t" r="r" b="b"/>
            <a:pathLst>
              <a:path w="9866693" h="6870806">
                <a:moveTo>
                  <a:pt x="0" y="0"/>
                </a:moveTo>
                <a:lnTo>
                  <a:pt x="9866693" y="0"/>
                </a:lnTo>
                <a:lnTo>
                  <a:pt x="9866693" y="6870806"/>
                </a:lnTo>
                <a:lnTo>
                  <a:pt x="0" y="687080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TextBox 4"/>
          <p:cNvSpPr txBox="1"/>
          <p:nvPr/>
        </p:nvSpPr>
        <p:spPr>
          <a:xfrm>
            <a:off x="1982988" y="3236299"/>
            <a:ext cx="6823759" cy="4014112"/>
          </a:xfrm>
          <a:prstGeom prst="rect">
            <a:avLst/>
          </a:prstGeom>
        </p:spPr>
        <p:txBody>
          <a:bodyPr lIns="0" tIns="0" rIns="0" bIns="0" rtlCol="0" anchor="t">
            <a:spAutoFit/>
          </a:bodyPr>
          <a:lstStyle/>
          <a:p>
            <a:pPr algn="l">
              <a:lnSpc>
                <a:spcPts val="6173"/>
              </a:lnSpc>
            </a:pPr>
            <a:r>
              <a:rPr lang="en-US" sz="6173" b="1" dirty="0">
                <a:solidFill>
                  <a:srgbClr val="2F1800"/>
                </a:solidFill>
                <a:latin typeface="Saira Bold"/>
                <a:ea typeface="Saira Bold"/>
                <a:cs typeface="Saira Bold"/>
                <a:sym typeface="Saira Bold"/>
              </a:rPr>
              <a:t>NATURAL LANGUAGE INFERENCE</a:t>
            </a:r>
          </a:p>
          <a:p>
            <a:pPr algn="l">
              <a:lnSpc>
                <a:spcPts val="6173"/>
              </a:lnSpc>
            </a:pPr>
            <a:r>
              <a:rPr lang="en-US" sz="6173" b="1" dirty="0">
                <a:solidFill>
                  <a:srgbClr val="2F1800"/>
                </a:solidFill>
                <a:latin typeface="Saira Bold"/>
                <a:ea typeface="Saira Bold"/>
                <a:cs typeface="Saira Bold"/>
                <a:sym typeface="Saira Bold"/>
              </a:rPr>
              <a:t>PROJECT</a:t>
            </a:r>
          </a:p>
          <a:p>
            <a:pPr algn="l">
              <a:lnSpc>
                <a:spcPts val="6173"/>
              </a:lnSpc>
            </a:pPr>
            <a:r>
              <a:rPr lang="en-US" sz="6173" b="1" dirty="0">
                <a:solidFill>
                  <a:srgbClr val="2F1800"/>
                </a:solidFill>
                <a:latin typeface="Saira Bold"/>
                <a:ea typeface="Saira Bold"/>
                <a:cs typeface="Saira Bold"/>
                <a:sym typeface="Saira Bold"/>
              </a:rPr>
              <a:t>REPORT</a:t>
            </a:r>
          </a:p>
        </p:txBody>
      </p:sp>
      <p:sp>
        <p:nvSpPr>
          <p:cNvPr id="5" name="TextBox 5"/>
          <p:cNvSpPr txBox="1"/>
          <p:nvPr/>
        </p:nvSpPr>
        <p:spPr>
          <a:xfrm>
            <a:off x="1982988" y="7117376"/>
            <a:ext cx="3233679" cy="525979"/>
          </a:xfrm>
          <a:prstGeom prst="rect">
            <a:avLst/>
          </a:prstGeom>
        </p:spPr>
        <p:txBody>
          <a:bodyPr lIns="0" tIns="0" rIns="0" bIns="0" rtlCol="0" anchor="t">
            <a:spAutoFit/>
          </a:bodyPr>
          <a:lstStyle/>
          <a:p>
            <a:pPr marL="0" lvl="0" indent="0" algn="ctr">
              <a:lnSpc>
                <a:spcPts val="4310"/>
              </a:lnSpc>
              <a:spcBef>
                <a:spcPct val="0"/>
              </a:spcBef>
            </a:pPr>
            <a:r>
              <a:rPr lang="en-US" sz="3078" b="1">
                <a:solidFill>
                  <a:srgbClr val="000000"/>
                </a:solidFill>
                <a:latin typeface="Canva Sans Bold"/>
                <a:ea typeface="Canva Sans Bold"/>
                <a:cs typeface="Canva Sans Bold"/>
                <a:sym typeface="Canva Sans Bold"/>
              </a:rPr>
              <a:t> - Jay Vipin Jajoo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90822" y="2656391"/>
            <a:ext cx="981645" cy="4968240"/>
            <a:chOff x="0" y="0"/>
            <a:chExt cx="258540" cy="1308508"/>
          </a:xfrm>
        </p:grpSpPr>
        <p:sp>
          <p:nvSpPr>
            <p:cNvPr id="3" name="Freeform 3"/>
            <p:cNvSpPr/>
            <p:nvPr/>
          </p:nvSpPr>
          <p:spPr>
            <a:xfrm>
              <a:off x="0" y="0"/>
              <a:ext cx="258540" cy="1308508"/>
            </a:xfrm>
            <a:custGeom>
              <a:avLst/>
              <a:gdLst/>
              <a:ahLst/>
              <a:cxnLst/>
              <a:rect l="l" t="t" r="r" b="b"/>
              <a:pathLst>
                <a:path w="258540" h="1308508">
                  <a:moveTo>
                    <a:pt x="129270" y="0"/>
                  </a:moveTo>
                  <a:lnTo>
                    <a:pt x="129270" y="0"/>
                  </a:lnTo>
                  <a:cubicBezTo>
                    <a:pt x="163555" y="0"/>
                    <a:pt x="196435" y="13619"/>
                    <a:pt x="220678" y="37862"/>
                  </a:cubicBezTo>
                  <a:cubicBezTo>
                    <a:pt x="244921" y="62105"/>
                    <a:pt x="258540" y="94986"/>
                    <a:pt x="258540" y="129270"/>
                  </a:cubicBezTo>
                  <a:lnTo>
                    <a:pt x="258540" y="1179238"/>
                  </a:lnTo>
                  <a:cubicBezTo>
                    <a:pt x="258540" y="1250631"/>
                    <a:pt x="200664" y="1308508"/>
                    <a:pt x="129270" y="1308508"/>
                  </a:cubicBezTo>
                  <a:lnTo>
                    <a:pt x="129270" y="1308508"/>
                  </a:lnTo>
                  <a:cubicBezTo>
                    <a:pt x="94986" y="1308508"/>
                    <a:pt x="62105" y="1294888"/>
                    <a:pt x="37862" y="1270645"/>
                  </a:cubicBezTo>
                  <a:cubicBezTo>
                    <a:pt x="13619" y="1246403"/>
                    <a:pt x="0" y="1213522"/>
                    <a:pt x="0" y="1179238"/>
                  </a:cubicBezTo>
                  <a:lnTo>
                    <a:pt x="0" y="129270"/>
                  </a:lnTo>
                  <a:cubicBezTo>
                    <a:pt x="0" y="57876"/>
                    <a:pt x="57876" y="0"/>
                    <a:pt x="129270" y="0"/>
                  </a:cubicBezTo>
                  <a:close/>
                </a:path>
              </a:pathLst>
            </a:custGeom>
            <a:solidFill>
              <a:srgbClr val="000000">
                <a:alpha val="0"/>
              </a:srgbClr>
            </a:solidFill>
            <a:ln w="9525" cap="rnd">
              <a:solidFill>
                <a:srgbClr val="2F1800"/>
              </a:solidFill>
              <a:prstDash val="solid"/>
              <a:round/>
            </a:ln>
          </p:spPr>
          <p:txBody>
            <a:bodyPr/>
            <a:lstStyle/>
            <a:p>
              <a:endParaRPr lang="en-US"/>
            </a:p>
          </p:txBody>
        </p:sp>
        <p:sp>
          <p:nvSpPr>
            <p:cNvPr id="4" name="TextBox 4"/>
            <p:cNvSpPr txBox="1"/>
            <p:nvPr/>
          </p:nvSpPr>
          <p:spPr>
            <a:xfrm>
              <a:off x="0" y="76200"/>
              <a:ext cx="258540" cy="1232308"/>
            </a:xfrm>
            <a:prstGeom prst="rect">
              <a:avLst/>
            </a:prstGeom>
          </p:spPr>
          <p:txBody>
            <a:bodyPr lIns="50800" tIns="50800" rIns="50800" bIns="50800" rtlCol="0" anchor="ctr"/>
            <a:lstStyle/>
            <a:p>
              <a:pPr algn="ctr">
                <a:lnSpc>
                  <a:spcPts val="1462"/>
                </a:lnSpc>
              </a:pPr>
              <a:endParaRPr/>
            </a:p>
          </p:txBody>
        </p:sp>
      </p:grpSp>
      <p:sp>
        <p:nvSpPr>
          <p:cNvPr id="5" name="Freeform 5"/>
          <p:cNvSpPr/>
          <p:nvPr/>
        </p:nvSpPr>
        <p:spPr>
          <a:xfrm>
            <a:off x="1045762" y="2650413"/>
            <a:ext cx="5783975" cy="4974218"/>
          </a:xfrm>
          <a:custGeom>
            <a:avLst/>
            <a:gdLst/>
            <a:ahLst/>
            <a:cxnLst/>
            <a:rect l="l" t="t" r="r" b="b"/>
            <a:pathLst>
              <a:path w="5783975" h="4974218">
                <a:moveTo>
                  <a:pt x="0" y="0"/>
                </a:moveTo>
                <a:lnTo>
                  <a:pt x="5783974" y="0"/>
                </a:lnTo>
                <a:lnTo>
                  <a:pt x="5783974" y="4974218"/>
                </a:lnTo>
                <a:lnTo>
                  <a:pt x="0" y="497421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TextBox 6"/>
          <p:cNvSpPr txBox="1"/>
          <p:nvPr/>
        </p:nvSpPr>
        <p:spPr>
          <a:xfrm>
            <a:off x="1045762" y="655351"/>
            <a:ext cx="7791262" cy="814027"/>
          </a:xfrm>
          <a:prstGeom prst="rect">
            <a:avLst/>
          </a:prstGeom>
        </p:spPr>
        <p:txBody>
          <a:bodyPr lIns="0" tIns="0" rIns="0" bIns="0" rtlCol="0" anchor="t">
            <a:spAutoFit/>
          </a:bodyPr>
          <a:lstStyle/>
          <a:p>
            <a:pPr algn="l">
              <a:lnSpc>
                <a:spcPts val="6173"/>
              </a:lnSpc>
            </a:pPr>
            <a:r>
              <a:rPr lang="en-US" sz="6173" b="1">
                <a:solidFill>
                  <a:srgbClr val="2F1800"/>
                </a:solidFill>
                <a:latin typeface="Saira Bold"/>
                <a:ea typeface="Saira Bold"/>
                <a:cs typeface="Saira Bold"/>
                <a:sym typeface="Saira Bold"/>
              </a:rPr>
              <a:t>PROJECT OVERVIEW</a:t>
            </a:r>
          </a:p>
        </p:txBody>
      </p:sp>
      <p:sp>
        <p:nvSpPr>
          <p:cNvPr id="7" name="TextBox 7"/>
          <p:cNvSpPr txBox="1"/>
          <p:nvPr/>
        </p:nvSpPr>
        <p:spPr>
          <a:xfrm>
            <a:off x="7382186" y="1707477"/>
            <a:ext cx="9322303" cy="6519157"/>
          </a:xfrm>
          <a:prstGeom prst="rect">
            <a:avLst/>
          </a:prstGeom>
        </p:spPr>
        <p:txBody>
          <a:bodyPr lIns="0" tIns="0" rIns="0" bIns="0" rtlCol="0" anchor="t">
            <a:spAutoFit/>
          </a:bodyPr>
          <a:lstStyle/>
          <a:p>
            <a:pPr algn="just">
              <a:lnSpc>
                <a:spcPts val="3359"/>
              </a:lnSpc>
            </a:pPr>
            <a:r>
              <a:rPr lang="en-US" sz="2400" dirty="0">
                <a:solidFill>
                  <a:srgbClr val="2F1800"/>
                </a:solidFill>
                <a:latin typeface="DM Sans"/>
                <a:ea typeface="DM Sans"/>
                <a:cs typeface="DM Sans"/>
                <a:sym typeface="DM Sans"/>
              </a:rPr>
              <a:t>This project explores Natural Language Inference (NLI) on the ANLI Round 2 dataset, where models classify premise-hypothesis pairs as entailment, neutral, or contradiction. </a:t>
            </a:r>
          </a:p>
          <a:p>
            <a:pPr algn="just">
              <a:lnSpc>
                <a:spcPts val="3359"/>
              </a:lnSpc>
            </a:pPr>
            <a:endParaRPr lang="en-US" sz="2400" dirty="0">
              <a:solidFill>
                <a:srgbClr val="2F1800"/>
              </a:solidFill>
              <a:latin typeface="DM Sans"/>
              <a:ea typeface="DM Sans"/>
              <a:cs typeface="DM Sans"/>
              <a:sym typeface="DM Sans"/>
            </a:endParaRPr>
          </a:p>
          <a:p>
            <a:pPr algn="just">
              <a:lnSpc>
                <a:spcPts val="3359"/>
              </a:lnSpc>
            </a:pPr>
            <a:r>
              <a:rPr lang="en-US" sz="2400" dirty="0">
                <a:solidFill>
                  <a:srgbClr val="2F1800"/>
                </a:solidFill>
                <a:latin typeface="DM Sans"/>
                <a:ea typeface="DM Sans"/>
                <a:cs typeface="DM Sans"/>
                <a:sym typeface="DM Sans"/>
              </a:rPr>
              <a:t>The methodology progresses through three stages: </a:t>
            </a:r>
          </a:p>
          <a:p>
            <a:pPr algn="just">
              <a:lnSpc>
                <a:spcPts val="3359"/>
              </a:lnSpc>
            </a:pPr>
            <a:endParaRPr lang="en-US" sz="2400" dirty="0">
              <a:solidFill>
                <a:srgbClr val="2F1800"/>
              </a:solidFill>
              <a:latin typeface="DM Sans"/>
              <a:ea typeface="DM Sans"/>
              <a:cs typeface="DM Sans"/>
              <a:sym typeface="DM Sans"/>
            </a:endParaRPr>
          </a:p>
          <a:p>
            <a:pPr algn="just">
              <a:lnSpc>
                <a:spcPts val="3359"/>
              </a:lnSpc>
            </a:pPr>
            <a:r>
              <a:rPr lang="en-US" sz="2400" dirty="0">
                <a:solidFill>
                  <a:srgbClr val="2F1800"/>
                </a:solidFill>
                <a:latin typeface="DM Sans"/>
                <a:ea typeface="DM Sans"/>
                <a:cs typeface="DM Sans"/>
                <a:sym typeface="DM Sans"/>
              </a:rPr>
              <a:t>(1)</a:t>
            </a:r>
            <a:r>
              <a:rPr lang="en-US" sz="2400" b="1" dirty="0">
                <a:solidFill>
                  <a:srgbClr val="2F1800"/>
                </a:solidFill>
                <a:latin typeface="DM Sans Bold"/>
                <a:ea typeface="DM Sans Bold"/>
                <a:cs typeface="DM Sans Bold"/>
                <a:sym typeface="DM Sans Bold"/>
              </a:rPr>
              <a:t> Exploratory data analysis</a:t>
            </a:r>
            <a:r>
              <a:rPr lang="en-US" sz="2400" dirty="0">
                <a:solidFill>
                  <a:srgbClr val="2F1800"/>
                </a:solidFill>
                <a:latin typeface="DM Sans"/>
                <a:ea typeface="DM Sans"/>
                <a:cs typeface="DM Sans"/>
                <a:sym typeface="DM Sans"/>
              </a:rPr>
              <a:t> of text lengths, word overlaps, and label distributions.</a:t>
            </a:r>
          </a:p>
          <a:p>
            <a:pPr algn="just">
              <a:lnSpc>
                <a:spcPts val="3359"/>
              </a:lnSpc>
            </a:pPr>
            <a:endParaRPr lang="en-US" sz="2400" dirty="0">
              <a:solidFill>
                <a:srgbClr val="2F1800"/>
              </a:solidFill>
              <a:latin typeface="DM Sans"/>
              <a:ea typeface="DM Sans"/>
              <a:cs typeface="DM Sans"/>
              <a:sym typeface="DM Sans"/>
            </a:endParaRPr>
          </a:p>
          <a:p>
            <a:pPr algn="just">
              <a:lnSpc>
                <a:spcPts val="3359"/>
              </a:lnSpc>
            </a:pPr>
            <a:r>
              <a:rPr lang="en-US" sz="2400" dirty="0">
                <a:solidFill>
                  <a:srgbClr val="2F1800"/>
                </a:solidFill>
                <a:latin typeface="DM Sans"/>
                <a:ea typeface="DM Sans"/>
                <a:cs typeface="DM Sans"/>
                <a:sym typeface="DM Sans"/>
              </a:rPr>
              <a:t>(2) </a:t>
            </a:r>
            <a:r>
              <a:rPr lang="en-US" sz="2400" b="1" dirty="0">
                <a:solidFill>
                  <a:srgbClr val="2F1800"/>
                </a:solidFill>
                <a:latin typeface="DM Sans Bold"/>
                <a:ea typeface="DM Sans Bold"/>
                <a:cs typeface="DM Sans Bold"/>
                <a:sym typeface="DM Sans Bold"/>
              </a:rPr>
              <a:t>Traditional ML baselines using TF-IDF features</a:t>
            </a:r>
            <a:r>
              <a:rPr lang="en-US" sz="2400" dirty="0">
                <a:solidFill>
                  <a:srgbClr val="2F1800"/>
                </a:solidFill>
                <a:latin typeface="DM Sans"/>
                <a:ea typeface="DM Sans"/>
                <a:cs typeface="DM Sans"/>
                <a:sym typeface="DM Sans"/>
              </a:rPr>
              <a:t> with Logistic Regression, Random Forest, and </a:t>
            </a:r>
            <a:r>
              <a:rPr lang="en-US" sz="2400" dirty="0" err="1">
                <a:solidFill>
                  <a:srgbClr val="2F1800"/>
                </a:solidFill>
                <a:latin typeface="DM Sans"/>
                <a:ea typeface="DM Sans"/>
                <a:cs typeface="DM Sans"/>
                <a:sym typeface="DM Sans"/>
              </a:rPr>
              <a:t>XGBoost</a:t>
            </a:r>
            <a:r>
              <a:rPr lang="en-US" sz="2400" dirty="0">
                <a:solidFill>
                  <a:srgbClr val="2F1800"/>
                </a:solidFill>
                <a:latin typeface="DM Sans"/>
                <a:ea typeface="DM Sans"/>
                <a:cs typeface="DM Sans"/>
                <a:sym typeface="DM Sans"/>
              </a:rPr>
              <a:t>; and </a:t>
            </a:r>
          </a:p>
          <a:p>
            <a:pPr algn="just">
              <a:lnSpc>
                <a:spcPts val="3359"/>
              </a:lnSpc>
            </a:pPr>
            <a:endParaRPr lang="en-US" sz="2400" dirty="0">
              <a:solidFill>
                <a:srgbClr val="2F1800"/>
              </a:solidFill>
              <a:latin typeface="DM Sans"/>
              <a:ea typeface="DM Sans"/>
              <a:cs typeface="DM Sans"/>
              <a:sym typeface="DM Sans"/>
            </a:endParaRPr>
          </a:p>
          <a:p>
            <a:pPr algn="just">
              <a:lnSpc>
                <a:spcPts val="3359"/>
              </a:lnSpc>
            </a:pPr>
            <a:r>
              <a:rPr lang="en-US" sz="2400" dirty="0">
                <a:solidFill>
                  <a:srgbClr val="2F1800"/>
                </a:solidFill>
                <a:latin typeface="DM Sans"/>
                <a:ea typeface="DM Sans"/>
                <a:cs typeface="DM Sans"/>
                <a:sym typeface="DM Sans"/>
              </a:rPr>
              <a:t>(3) </a:t>
            </a:r>
            <a:r>
              <a:rPr lang="en-US" sz="2400" b="1" dirty="0">
                <a:solidFill>
                  <a:srgbClr val="2F1800"/>
                </a:solidFill>
                <a:latin typeface="DM Sans Bold"/>
                <a:ea typeface="DM Sans Bold"/>
                <a:cs typeface="DM Sans Bold"/>
                <a:sym typeface="DM Sans Bold"/>
              </a:rPr>
              <a:t>Deep learning approaches</a:t>
            </a:r>
            <a:r>
              <a:rPr lang="en-US" sz="2400" dirty="0">
                <a:solidFill>
                  <a:srgbClr val="2F1800"/>
                </a:solidFill>
                <a:latin typeface="DM Sans"/>
                <a:ea typeface="DM Sans"/>
                <a:cs typeface="DM Sans"/>
                <a:sym typeface="DM Sans"/>
              </a:rPr>
              <a:t> with pre-trained transformers and fine-tuned </a:t>
            </a:r>
            <a:r>
              <a:rPr lang="en-US" sz="2400" b="1" dirty="0">
                <a:solidFill>
                  <a:srgbClr val="2F1800"/>
                </a:solidFill>
                <a:latin typeface="DM Sans Bold"/>
                <a:ea typeface="DM Sans Bold"/>
                <a:cs typeface="DM Sans Bold"/>
                <a:sym typeface="DM Sans Bold"/>
              </a:rPr>
              <a:t>BERT and </a:t>
            </a:r>
            <a:r>
              <a:rPr lang="en-US" sz="2400" b="1" dirty="0" err="1">
                <a:solidFill>
                  <a:srgbClr val="2F1800"/>
                </a:solidFill>
                <a:latin typeface="DM Sans Bold"/>
                <a:ea typeface="DM Sans Bold"/>
                <a:cs typeface="DM Sans Bold"/>
                <a:sym typeface="DM Sans Bold"/>
              </a:rPr>
              <a:t>DeBERTa</a:t>
            </a:r>
            <a:r>
              <a:rPr lang="en-US" sz="2400" b="1" dirty="0">
                <a:solidFill>
                  <a:srgbClr val="2F1800"/>
                </a:solidFill>
                <a:latin typeface="DM Sans Bold"/>
                <a:ea typeface="DM Sans Bold"/>
                <a:cs typeface="DM Sans Bold"/>
                <a:sym typeface="DM Sans Bold"/>
              </a:rPr>
              <a:t> models</a:t>
            </a:r>
            <a:r>
              <a:rPr lang="en-US" sz="2400" dirty="0">
                <a:solidFill>
                  <a:srgbClr val="2F1800"/>
                </a:solidFill>
                <a:latin typeface="DM Sans"/>
                <a:ea typeface="DM Sans"/>
                <a:cs typeface="DM Sans"/>
                <a:sym typeface="DM Sans"/>
              </a:rPr>
              <a:t>, enhanced with Chain-of-Thought prompting.</a:t>
            </a:r>
          </a:p>
        </p:txBody>
      </p:sp>
      <p:sp>
        <p:nvSpPr>
          <p:cNvPr id="8" name="TextBox 8"/>
          <p:cNvSpPr txBox="1"/>
          <p:nvPr/>
        </p:nvSpPr>
        <p:spPr>
          <a:xfrm>
            <a:off x="7382186" y="8387684"/>
            <a:ext cx="9322303" cy="1243965"/>
          </a:xfrm>
          <a:prstGeom prst="rect">
            <a:avLst/>
          </a:prstGeom>
        </p:spPr>
        <p:txBody>
          <a:bodyPr lIns="0" tIns="0" rIns="0" bIns="0" rtlCol="0" anchor="t">
            <a:spAutoFit/>
          </a:bodyPr>
          <a:lstStyle/>
          <a:p>
            <a:pPr algn="just">
              <a:lnSpc>
                <a:spcPts val="3359"/>
              </a:lnSpc>
            </a:pPr>
            <a:r>
              <a:rPr lang="en-US" sz="2400" b="1" dirty="0">
                <a:solidFill>
                  <a:srgbClr val="2F1800"/>
                </a:solidFill>
                <a:latin typeface="DM Sans Bold"/>
                <a:ea typeface="DM Sans Bold"/>
                <a:cs typeface="DM Sans Bold"/>
                <a:sym typeface="DM Sans Bold"/>
              </a:rPr>
              <a:t>A modular, production-ready pipeline was developed to automate data loading, training, evaluation, and comparison across models.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2117836"/>
            <a:ext cx="3844319" cy="972931"/>
            <a:chOff x="0" y="0"/>
            <a:chExt cx="1880634" cy="475956"/>
          </a:xfrm>
        </p:grpSpPr>
        <p:sp>
          <p:nvSpPr>
            <p:cNvPr id="3" name="Freeform 3"/>
            <p:cNvSpPr/>
            <p:nvPr/>
          </p:nvSpPr>
          <p:spPr>
            <a:xfrm>
              <a:off x="0" y="0"/>
              <a:ext cx="1880634" cy="475956"/>
            </a:xfrm>
            <a:custGeom>
              <a:avLst/>
              <a:gdLst/>
              <a:ahLst/>
              <a:cxnLst/>
              <a:rect l="l" t="t" r="r" b="b"/>
              <a:pathLst>
                <a:path w="1880634" h="475956">
                  <a:moveTo>
                    <a:pt x="1677434" y="0"/>
                  </a:moveTo>
                  <a:cubicBezTo>
                    <a:pt x="1789658" y="0"/>
                    <a:pt x="1880634" y="106546"/>
                    <a:pt x="1880634" y="237978"/>
                  </a:cubicBezTo>
                  <a:cubicBezTo>
                    <a:pt x="1880634" y="369410"/>
                    <a:pt x="1789658" y="475956"/>
                    <a:pt x="1677434" y="475956"/>
                  </a:cubicBezTo>
                  <a:lnTo>
                    <a:pt x="203200" y="475956"/>
                  </a:lnTo>
                  <a:cubicBezTo>
                    <a:pt x="90976" y="475956"/>
                    <a:pt x="0" y="369410"/>
                    <a:pt x="0" y="237978"/>
                  </a:cubicBezTo>
                  <a:cubicBezTo>
                    <a:pt x="0" y="106546"/>
                    <a:pt x="90976" y="0"/>
                    <a:pt x="203200" y="0"/>
                  </a:cubicBezTo>
                  <a:close/>
                </a:path>
              </a:pathLst>
            </a:custGeom>
            <a:solidFill>
              <a:srgbClr val="2F1800"/>
            </a:solidFill>
            <a:ln cap="sq">
              <a:noFill/>
              <a:prstDash val="solid"/>
              <a:miter/>
            </a:ln>
          </p:spPr>
          <p:txBody>
            <a:bodyPr/>
            <a:lstStyle/>
            <a:p>
              <a:endParaRPr lang="en-US"/>
            </a:p>
          </p:txBody>
        </p:sp>
        <p:sp>
          <p:nvSpPr>
            <p:cNvPr id="4" name="TextBox 4"/>
            <p:cNvSpPr txBox="1"/>
            <p:nvPr/>
          </p:nvSpPr>
          <p:spPr>
            <a:xfrm>
              <a:off x="0" y="76200"/>
              <a:ext cx="1880634" cy="399756"/>
            </a:xfrm>
            <a:prstGeom prst="rect">
              <a:avLst/>
            </a:prstGeom>
          </p:spPr>
          <p:txBody>
            <a:bodyPr lIns="50800" tIns="50800" rIns="50800" bIns="50800" rtlCol="0" anchor="ctr"/>
            <a:lstStyle/>
            <a:p>
              <a:pPr algn="ctr">
                <a:lnSpc>
                  <a:spcPts val="1462"/>
                </a:lnSpc>
              </a:pPr>
              <a:endParaRPr/>
            </a:p>
          </p:txBody>
        </p:sp>
      </p:grpSp>
      <p:sp>
        <p:nvSpPr>
          <p:cNvPr id="5" name="Freeform 5"/>
          <p:cNvSpPr/>
          <p:nvPr/>
        </p:nvSpPr>
        <p:spPr>
          <a:xfrm>
            <a:off x="9737918" y="3090767"/>
            <a:ext cx="7521382" cy="6167533"/>
          </a:xfrm>
          <a:custGeom>
            <a:avLst/>
            <a:gdLst/>
            <a:ahLst/>
            <a:cxnLst/>
            <a:rect l="l" t="t" r="r" b="b"/>
            <a:pathLst>
              <a:path w="7521382" h="6167533">
                <a:moveTo>
                  <a:pt x="0" y="0"/>
                </a:moveTo>
                <a:lnTo>
                  <a:pt x="7521382" y="0"/>
                </a:lnTo>
                <a:lnTo>
                  <a:pt x="7521382" y="6167533"/>
                </a:lnTo>
                <a:lnTo>
                  <a:pt x="0" y="61675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TextBox 6"/>
          <p:cNvSpPr txBox="1"/>
          <p:nvPr/>
        </p:nvSpPr>
        <p:spPr>
          <a:xfrm>
            <a:off x="1473644" y="2365140"/>
            <a:ext cx="2954432" cy="430697"/>
          </a:xfrm>
          <a:prstGeom prst="rect">
            <a:avLst/>
          </a:prstGeom>
        </p:spPr>
        <p:txBody>
          <a:bodyPr lIns="0" tIns="0" rIns="0" bIns="0" rtlCol="0" anchor="t">
            <a:spAutoFit/>
          </a:bodyPr>
          <a:lstStyle/>
          <a:p>
            <a:pPr algn="ctr">
              <a:lnSpc>
                <a:spcPts val="3560"/>
              </a:lnSpc>
            </a:pPr>
            <a:r>
              <a:rPr lang="en-US" sz="2543" b="1">
                <a:solidFill>
                  <a:srgbClr val="FFFFFF"/>
                </a:solidFill>
                <a:latin typeface="DM Sans Bold"/>
                <a:ea typeface="DM Sans Bold"/>
                <a:cs typeface="DM Sans Bold"/>
                <a:sym typeface="DM Sans Bold"/>
              </a:rPr>
              <a:t>METHODOLOGY</a:t>
            </a:r>
          </a:p>
        </p:txBody>
      </p:sp>
      <p:sp>
        <p:nvSpPr>
          <p:cNvPr id="7" name="TextBox 7"/>
          <p:cNvSpPr txBox="1"/>
          <p:nvPr/>
        </p:nvSpPr>
        <p:spPr>
          <a:xfrm>
            <a:off x="1028700" y="1152525"/>
            <a:ext cx="8598982" cy="814027"/>
          </a:xfrm>
          <a:prstGeom prst="rect">
            <a:avLst/>
          </a:prstGeom>
        </p:spPr>
        <p:txBody>
          <a:bodyPr lIns="0" tIns="0" rIns="0" bIns="0" rtlCol="0" anchor="t">
            <a:spAutoFit/>
          </a:bodyPr>
          <a:lstStyle/>
          <a:p>
            <a:pPr algn="l">
              <a:lnSpc>
                <a:spcPts val="6173"/>
              </a:lnSpc>
            </a:pPr>
            <a:r>
              <a:rPr lang="en-US" sz="6173" b="1">
                <a:solidFill>
                  <a:srgbClr val="2F1800"/>
                </a:solidFill>
                <a:latin typeface="Saira Bold"/>
                <a:ea typeface="Saira Bold"/>
                <a:cs typeface="Saira Bold"/>
                <a:sym typeface="Saira Bold"/>
              </a:rPr>
              <a:t>1. EDA</a:t>
            </a:r>
          </a:p>
        </p:txBody>
      </p:sp>
      <p:sp>
        <p:nvSpPr>
          <p:cNvPr id="8" name="TextBox 8"/>
          <p:cNvSpPr txBox="1"/>
          <p:nvPr/>
        </p:nvSpPr>
        <p:spPr>
          <a:xfrm>
            <a:off x="1178242" y="3559331"/>
            <a:ext cx="7626962" cy="6309360"/>
          </a:xfrm>
          <a:prstGeom prst="rect">
            <a:avLst/>
          </a:prstGeom>
        </p:spPr>
        <p:txBody>
          <a:bodyPr lIns="0" tIns="0" rIns="0" bIns="0" rtlCol="0" anchor="t">
            <a:spAutoFit/>
          </a:bodyPr>
          <a:lstStyle/>
          <a:p>
            <a:pPr algn="l">
              <a:lnSpc>
                <a:spcPts val="2940"/>
              </a:lnSpc>
              <a:spcBef>
                <a:spcPct val="0"/>
              </a:spcBef>
            </a:pPr>
            <a:r>
              <a:rPr lang="en-US" sz="2100">
                <a:solidFill>
                  <a:srgbClr val="000000"/>
                </a:solidFill>
                <a:latin typeface="DM Sans"/>
                <a:ea typeface="DM Sans"/>
                <a:cs typeface="DM Sans"/>
                <a:sym typeface="DM Sans"/>
              </a:rPr>
              <a:t>This exploratory analysis was performed to understand the characteristics of the ANLI R2 dataset before modeling. Examining feature distributions, text lengths, label balance, and word overlap between premises and hypotheses helps to:</a:t>
            </a:r>
          </a:p>
          <a:p>
            <a:pPr algn="l">
              <a:lnSpc>
                <a:spcPts val="2940"/>
              </a:lnSpc>
              <a:spcBef>
                <a:spcPct val="0"/>
              </a:spcBef>
            </a:pPr>
            <a:endParaRPr lang="en-US" sz="2100">
              <a:solidFill>
                <a:srgbClr val="000000"/>
              </a:solidFill>
              <a:latin typeface="DM Sans"/>
              <a:ea typeface="DM Sans"/>
              <a:cs typeface="DM Sans"/>
              <a:sym typeface="DM Sans"/>
            </a:endParaRPr>
          </a:p>
          <a:p>
            <a:pPr marL="453390" lvl="1" indent="-226695" algn="l">
              <a:lnSpc>
                <a:spcPts val="2940"/>
              </a:lnSpc>
              <a:buFont typeface="Arial"/>
              <a:buChar char="•"/>
            </a:pPr>
            <a:r>
              <a:rPr lang="en-US" sz="2100" b="1">
                <a:solidFill>
                  <a:srgbClr val="000000"/>
                </a:solidFill>
                <a:latin typeface="DM Sans Bold"/>
                <a:ea typeface="DM Sans Bold"/>
                <a:cs typeface="DM Sans Bold"/>
                <a:sym typeface="DM Sans Bold"/>
              </a:rPr>
              <a:t>Identify patterns and trends</a:t>
            </a:r>
            <a:r>
              <a:rPr lang="en-US" sz="2100">
                <a:solidFill>
                  <a:srgbClr val="000000"/>
                </a:solidFill>
                <a:latin typeface="DM Sans"/>
                <a:ea typeface="DM Sans"/>
                <a:cs typeface="DM Sans"/>
                <a:sym typeface="DM Sans"/>
              </a:rPr>
              <a:t> across different labels.</a:t>
            </a:r>
          </a:p>
          <a:p>
            <a:pPr marL="453390" lvl="1" indent="-226695" algn="l">
              <a:lnSpc>
                <a:spcPts val="2940"/>
              </a:lnSpc>
              <a:buFont typeface="Arial"/>
              <a:buChar char="•"/>
            </a:pPr>
            <a:r>
              <a:rPr lang="en-US" sz="2100" b="1">
                <a:solidFill>
                  <a:srgbClr val="000000"/>
                </a:solidFill>
                <a:latin typeface="DM Sans Bold"/>
                <a:ea typeface="DM Sans Bold"/>
                <a:cs typeface="DM Sans Bold"/>
                <a:sym typeface="DM Sans Bold"/>
              </a:rPr>
              <a:t>Detect anomalies or inconsistencies</a:t>
            </a:r>
            <a:r>
              <a:rPr lang="en-US" sz="2100">
                <a:solidFill>
                  <a:srgbClr val="000000"/>
                </a:solidFill>
                <a:latin typeface="DM Sans"/>
                <a:ea typeface="DM Sans"/>
                <a:cs typeface="DM Sans"/>
                <a:sym typeface="DM Sans"/>
              </a:rPr>
              <a:t>, such as missing values or duplicate samples.</a:t>
            </a:r>
          </a:p>
          <a:p>
            <a:pPr marL="453390" lvl="1" indent="-226695" algn="l">
              <a:lnSpc>
                <a:spcPts val="2940"/>
              </a:lnSpc>
              <a:buFont typeface="Arial"/>
              <a:buChar char="•"/>
            </a:pPr>
            <a:r>
              <a:rPr lang="en-US" sz="2100" b="1">
                <a:solidFill>
                  <a:srgbClr val="000000"/>
                </a:solidFill>
                <a:latin typeface="DM Sans Bold"/>
                <a:ea typeface="DM Sans Bold"/>
                <a:cs typeface="DM Sans Bold"/>
                <a:sym typeface="DM Sans Bold"/>
              </a:rPr>
              <a:t>Understand semantic relationships</a:t>
            </a:r>
            <a:r>
              <a:rPr lang="en-US" sz="2100">
                <a:solidFill>
                  <a:srgbClr val="000000"/>
                </a:solidFill>
                <a:latin typeface="DM Sans"/>
                <a:ea typeface="DM Sans"/>
                <a:cs typeface="DM Sans"/>
                <a:sym typeface="DM Sans"/>
              </a:rPr>
              <a:t> between premise and hypothesis using similarity measures </a:t>
            </a:r>
            <a:r>
              <a:rPr lang="en-US" sz="2100" b="1">
                <a:solidFill>
                  <a:srgbClr val="000000"/>
                </a:solidFill>
                <a:latin typeface="DM Sans Bold"/>
                <a:ea typeface="DM Sans Bold"/>
                <a:cs typeface="DM Sans Bold"/>
                <a:sym typeface="DM Sans Bold"/>
              </a:rPr>
              <a:t>(Jaccard and TF-IDF cosine similarity).</a:t>
            </a:r>
          </a:p>
          <a:p>
            <a:pPr marL="453390" lvl="1" indent="-226695" algn="l">
              <a:lnSpc>
                <a:spcPts val="2940"/>
              </a:lnSpc>
              <a:buFont typeface="Arial"/>
              <a:buChar char="•"/>
            </a:pPr>
            <a:r>
              <a:rPr lang="en-US" sz="2100" b="1">
                <a:solidFill>
                  <a:srgbClr val="000000"/>
                </a:solidFill>
                <a:latin typeface="DM Sans Bold"/>
                <a:ea typeface="DM Sans Bold"/>
                <a:cs typeface="DM Sans Bold"/>
                <a:sym typeface="DM Sans Bold"/>
              </a:rPr>
              <a:t>Highlight label-specific cues</a:t>
            </a:r>
            <a:r>
              <a:rPr lang="en-US" sz="2100">
                <a:solidFill>
                  <a:srgbClr val="000000"/>
                </a:solidFill>
                <a:latin typeface="DM Sans"/>
                <a:ea typeface="DM Sans"/>
                <a:cs typeface="DM Sans"/>
                <a:sym typeface="DM Sans"/>
              </a:rPr>
              <a:t>, like frequently occurring words, to inform feature engineering and preprocessing.</a:t>
            </a:r>
          </a:p>
          <a:p>
            <a:pPr marL="453390" lvl="1" indent="-226695" algn="l">
              <a:lnSpc>
                <a:spcPts val="2940"/>
              </a:lnSpc>
              <a:buFont typeface="Arial"/>
              <a:buChar char="•"/>
            </a:pPr>
            <a:r>
              <a:rPr lang="en-US" sz="2100" b="1">
                <a:solidFill>
                  <a:srgbClr val="000000"/>
                </a:solidFill>
                <a:latin typeface="DM Sans Bold"/>
                <a:ea typeface="DM Sans Bold"/>
                <a:cs typeface="DM Sans Bold"/>
                <a:sym typeface="DM Sans Bold"/>
              </a:rPr>
              <a:t>Visualize distributions and similarities </a:t>
            </a:r>
            <a:r>
              <a:rPr lang="en-US" sz="2100">
                <a:solidFill>
                  <a:srgbClr val="000000"/>
                </a:solidFill>
                <a:latin typeface="DM Sans"/>
                <a:ea typeface="DM Sans"/>
                <a:cs typeface="DM Sans"/>
                <a:sym typeface="DM Sans"/>
              </a:rPr>
              <a:t>to guide data-driven modeling decisions.</a:t>
            </a:r>
          </a:p>
          <a:p>
            <a:pPr algn="l">
              <a:lnSpc>
                <a:spcPts val="2940"/>
              </a:lnSpc>
              <a:spcBef>
                <a:spcPct val="0"/>
              </a:spcBef>
            </a:pPr>
            <a:endParaRPr lang="en-US" sz="2100">
              <a:solidFill>
                <a:srgbClr val="000000"/>
              </a:solidFill>
              <a:latin typeface="DM Sans"/>
              <a:ea typeface="DM Sans"/>
              <a:cs typeface="DM Sans"/>
              <a:sym typeface="DM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34097" y="390033"/>
            <a:ext cx="5742109" cy="574461"/>
            <a:chOff x="0" y="0"/>
            <a:chExt cx="4062233" cy="406400"/>
          </a:xfrm>
        </p:grpSpPr>
        <p:sp>
          <p:nvSpPr>
            <p:cNvPr id="3" name="Freeform 3"/>
            <p:cNvSpPr/>
            <p:nvPr/>
          </p:nvSpPr>
          <p:spPr>
            <a:xfrm>
              <a:off x="0" y="0"/>
              <a:ext cx="4062233" cy="406400"/>
            </a:xfrm>
            <a:custGeom>
              <a:avLst/>
              <a:gdLst/>
              <a:ahLst/>
              <a:cxnLst/>
              <a:rect l="l" t="t" r="r" b="b"/>
              <a:pathLst>
                <a:path w="4062233" h="406400">
                  <a:moveTo>
                    <a:pt x="3859033" y="0"/>
                  </a:moveTo>
                  <a:cubicBezTo>
                    <a:pt x="3971258" y="0"/>
                    <a:pt x="4062233" y="90976"/>
                    <a:pt x="4062233" y="203200"/>
                  </a:cubicBezTo>
                  <a:cubicBezTo>
                    <a:pt x="4062233" y="315424"/>
                    <a:pt x="3971258" y="406400"/>
                    <a:pt x="3859033" y="406400"/>
                  </a:cubicBezTo>
                  <a:lnTo>
                    <a:pt x="203200" y="406400"/>
                  </a:lnTo>
                  <a:cubicBezTo>
                    <a:pt x="90976" y="406400"/>
                    <a:pt x="0" y="315424"/>
                    <a:pt x="0" y="203200"/>
                  </a:cubicBezTo>
                  <a:cubicBezTo>
                    <a:pt x="0" y="90976"/>
                    <a:pt x="90976" y="0"/>
                    <a:pt x="203200" y="0"/>
                  </a:cubicBezTo>
                  <a:close/>
                </a:path>
              </a:pathLst>
            </a:custGeom>
            <a:solidFill>
              <a:srgbClr val="2F1800"/>
            </a:solidFill>
            <a:ln cap="sq">
              <a:noFill/>
              <a:prstDash val="solid"/>
              <a:miter/>
            </a:ln>
          </p:spPr>
          <p:txBody>
            <a:bodyPr/>
            <a:lstStyle/>
            <a:p>
              <a:endParaRPr lang="en-US"/>
            </a:p>
          </p:txBody>
        </p:sp>
        <p:sp>
          <p:nvSpPr>
            <p:cNvPr id="4" name="TextBox 4"/>
            <p:cNvSpPr txBox="1"/>
            <p:nvPr/>
          </p:nvSpPr>
          <p:spPr>
            <a:xfrm>
              <a:off x="0" y="76200"/>
              <a:ext cx="4062233" cy="330200"/>
            </a:xfrm>
            <a:prstGeom prst="rect">
              <a:avLst/>
            </a:prstGeom>
          </p:spPr>
          <p:txBody>
            <a:bodyPr lIns="50800" tIns="50800" rIns="50800" bIns="50800" rtlCol="0" anchor="ctr"/>
            <a:lstStyle/>
            <a:p>
              <a:pPr algn="ctr">
                <a:lnSpc>
                  <a:spcPts val="1462"/>
                </a:lnSpc>
              </a:pPr>
              <a:endParaRPr/>
            </a:p>
          </p:txBody>
        </p:sp>
      </p:grpSp>
      <p:sp>
        <p:nvSpPr>
          <p:cNvPr id="5" name="Freeform 5"/>
          <p:cNvSpPr/>
          <p:nvPr/>
        </p:nvSpPr>
        <p:spPr>
          <a:xfrm>
            <a:off x="853802" y="1125828"/>
            <a:ext cx="5575427" cy="4373827"/>
          </a:xfrm>
          <a:custGeom>
            <a:avLst/>
            <a:gdLst/>
            <a:ahLst/>
            <a:cxnLst/>
            <a:rect l="l" t="t" r="r" b="b"/>
            <a:pathLst>
              <a:path w="5575427" h="4373827">
                <a:moveTo>
                  <a:pt x="0" y="0"/>
                </a:moveTo>
                <a:lnTo>
                  <a:pt x="5575428" y="0"/>
                </a:lnTo>
                <a:lnTo>
                  <a:pt x="5575428" y="4373827"/>
                </a:lnTo>
                <a:lnTo>
                  <a:pt x="0" y="4373827"/>
                </a:lnTo>
                <a:lnTo>
                  <a:pt x="0" y="0"/>
                </a:lnTo>
                <a:close/>
              </a:path>
            </a:pathLst>
          </a:custGeom>
          <a:blipFill>
            <a:blip r:embed="rId2"/>
            <a:stretch>
              <a:fillRect/>
            </a:stretch>
          </a:blipFill>
          <a:ln w="38100" cap="sq">
            <a:solidFill>
              <a:srgbClr val="000000"/>
            </a:solidFill>
            <a:prstDash val="lgDash"/>
            <a:miter/>
          </a:ln>
        </p:spPr>
        <p:txBody>
          <a:bodyPr/>
          <a:lstStyle/>
          <a:p>
            <a:endParaRPr lang="en-US"/>
          </a:p>
        </p:txBody>
      </p:sp>
      <p:sp>
        <p:nvSpPr>
          <p:cNvPr id="6" name="Freeform 6"/>
          <p:cNvSpPr/>
          <p:nvPr/>
        </p:nvSpPr>
        <p:spPr>
          <a:xfrm>
            <a:off x="853802" y="5660989"/>
            <a:ext cx="5575427" cy="4241158"/>
          </a:xfrm>
          <a:custGeom>
            <a:avLst/>
            <a:gdLst/>
            <a:ahLst/>
            <a:cxnLst/>
            <a:rect l="l" t="t" r="r" b="b"/>
            <a:pathLst>
              <a:path w="5575427" h="4241158">
                <a:moveTo>
                  <a:pt x="0" y="0"/>
                </a:moveTo>
                <a:lnTo>
                  <a:pt x="5575428" y="0"/>
                </a:lnTo>
                <a:lnTo>
                  <a:pt x="5575428" y="4241158"/>
                </a:lnTo>
                <a:lnTo>
                  <a:pt x="0" y="4241158"/>
                </a:lnTo>
                <a:lnTo>
                  <a:pt x="0" y="0"/>
                </a:lnTo>
                <a:close/>
              </a:path>
            </a:pathLst>
          </a:custGeom>
          <a:blipFill>
            <a:blip r:embed="rId3"/>
            <a:stretch>
              <a:fillRect l="-1394" t="-6146" r="-3393" b="-267"/>
            </a:stretch>
          </a:blipFill>
          <a:ln w="38100" cap="sq">
            <a:solidFill>
              <a:srgbClr val="000000"/>
            </a:solidFill>
            <a:prstDash val="lgDash"/>
            <a:miter/>
          </a:ln>
        </p:spPr>
        <p:txBody>
          <a:bodyPr/>
          <a:lstStyle/>
          <a:p>
            <a:endParaRPr lang="en-US"/>
          </a:p>
        </p:txBody>
      </p:sp>
      <p:sp>
        <p:nvSpPr>
          <p:cNvPr id="7" name="Freeform 7"/>
          <p:cNvSpPr/>
          <p:nvPr/>
        </p:nvSpPr>
        <p:spPr>
          <a:xfrm>
            <a:off x="6618431" y="1026598"/>
            <a:ext cx="11301259" cy="2415644"/>
          </a:xfrm>
          <a:custGeom>
            <a:avLst/>
            <a:gdLst/>
            <a:ahLst/>
            <a:cxnLst/>
            <a:rect l="l" t="t" r="r" b="b"/>
            <a:pathLst>
              <a:path w="11301259" h="2415644">
                <a:moveTo>
                  <a:pt x="0" y="0"/>
                </a:moveTo>
                <a:lnTo>
                  <a:pt x="11301259" y="0"/>
                </a:lnTo>
                <a:lnTo>
                  <a:pt x="11301259" y="2415645"/>
                </a:lnTo>
                <a:lnTo>
                  <a:pt x="0" y="2415645"/>
                </a:lnTo>
                <a:lnTo>
                  <a:pt x="0" y="0"/>
                </a:lnTo>
                <a:close/>
              </a:path>
            </a:pathLst>
          </a:custGeom>
          <a:blipFill>
            <a:blip r:embed="rId4"/>
            <a:stretch>
              <a:fillRect/>
            </a:stretch>
          </a:blipFill>
          <a:ln w="38100" cap="sq">
            <a:solidFill>
              <a:srgbClr val="000000"/>
            </a:solidFill>
            <a:prstDash val="solid"/>
            <a:miter/>
          </a:ln>
        </p:spPr>
        <p:txBody>
          <a:bodyPr/>
          <a:lstStyle/>
          <a:p>
            <a:endParaRPr lang="en-US"/>
          </a:p>
        </p:txBody>
      </p:sp>
      <p:sp>
        <p:nvSpPr>
          <p:cNvPr id="8" name="Freeform 8"/>
          <p:cNvSpPr/>
          <p:nvPr/>
        </p:nvSpPr>
        <p:spPr>
          <a:xfrm>
            <a:off x="6919837" y="6739041"/>
            <a:ext cx="11301259" cy="3093720"/>
          </a:xfrm>
          <a:custGeom>
            <a:avLst/>
            <a:gdLst/>
            <a:ahLst/>
            <a:cxnLst/>
            <a:rect l="l" t="t" r="r" b="b"/>
            <a:pathLst>
              <a:path w="11301259" h="3093720">
                <a:moveTo>
                  <a:pt x="0" y="0"/>
                </a:moveTo>
                <a:lnTo>
                  <a:pt x="11301259" y="0"/>
                </a:lnTo>
                <a:lnTo>
                  <a:pt x="11301259" y="3093720"/>
                </a:lnTo>
                <a:lnTo>
                  <a:pt x="0" y="3093720"/>
                </a:lnTo>
                <a:lnTo>
                  <a:pt x="0" y="0"/>
                </a:lnTo>
                <a:close/>
              </a:path>
            </a:pathLst>
          </a:custGeom>
          <a:blipFill>
            <a:blip r:embed="rId5"/>
            <a:stretch>
              <a:fillRect/>
            </a:stretch>
          </a:blipFill>
          <a:ln w="38100" cap="sq">
            <a:solidFill>
              <a:srgbClr val="000000"/>
            </a:solidFill>
            <a:prstDash val="solid"/>
            <a:miter/>
          </a:ln>
        </p:spPr>
        <p:txBody>
          <a:bodyPr/>
          <a:lstStyle/>
          <a:p>
            <a:endParaRPr lang="en-US"/>
          </a:p>
        </p:txBody>
      </p:sp>
      <p:sp>
        <p:nvSpPr>
          <p:cNvPr id="9" name="TextBox 9"/>
          <p:cNvSpPr txBox="1"/>
          <p:nvPr/>
        </p:nvSpPr>
        <p:spPr>
          <a:xfrm>
            <a:off x="772645" y="447644"/>
            <a:ext cx="5078085" cy="430697"/>
          </a:xfrm>
          <a:prstGeom prst="rect">
            <a:avLst/>
          </a:prstGeom>
        </p:spPr>
        <p:txBody>
          <a:bodyPr lIns="0" tIns="0" rIns="0" bIns="0" rtlCol="0" anchor="t">
            <a:spAutoFit/>
          </a:bodyPr>
          <a:lstStyle/>
          <a:p>
            <a:pPr algn="ctr">
              <a:lnSpc>
                <a:spcPts val="3560"/>
              </a:lnSpc>
            </a:pPr>
            <a:r>
              <a:rPr lang="en-US" sz="2543" b="1">
                <a:solidFill>
                  <a:srgbClr val="FFFFFF"/>
                </a:solidFill>
                <a:latin typeface="DM Sans Bold"/>
                <a:ea typeface="DM Sans Bold"/>
                <a:cs typeface="DM Sans Bold"/>
                <a:sym typeface="DM Sans Bold"/>
              </a:rPr>
              <a:t>TEXT LENGTH ANALYSIS</a:t>
            </a:r>
          </a:p>
        </p:txBody>
      </p:sp>
      <p:grpSp>
        <p:nvGrpSpPr>
          <p:cNvPr id="10" name="Group 10"/>
          <p:cNvGrpSpPr/>
          <p:nvPr/>
        </p:nvGrpSpPr>
        <p:grpSpPr>
          <a:xfrm>
            <a:off x="7051073" y="193136"/>
            <a:ext cx="10698447" cy="574461"/>
            <a:chOff x="0" y="0"/>
            <a:chExt cx="7568576" cy="406400"/>
          </a:xfrm>
        </p:grpSpPr>
        <p:sp>
          <p:nvSpPr>
            <p:cNvPr id="11" name="Freeform 11"/>
            <p:cNvSpPr/>
            <p:nvPr/>
          </p:nvSpPr>
          <p:spPr>
            <a:xfrm>
              <a:off x="0" y="0"/>
              <a:ext cx="7568576" cy="406400"/>
            </a:xfrm>
            <a:custGeom>
              <a:avLst/>
              <a:gdLst/>
              <a:ahLst/>
              <a:cxnLst/>
              <a:rect l="l" t="t" r="r" b="b"/>
              <a:pathLst>
                <a:path w="7568576" h="406400">
                  <a:moveTo>
                    <a:pt x="7365376" y="0"/>
                  </a:moveTo>
                  <a:cubicBezTo>
                    <a:pt x="7477600" y="0"/>
                    <a:pt x="7568576" y="90976"/>
                    <a:pt x="7568576" y="203200"/>
                  </a:cubicBezTo>
                  <a:cubicBezTo>
                    <a:pt x="7568576" y="315424"/>
                    <a:pt x="7477600" y="406400"/>
                    <a:pt x="7365376" y="406400"/>
                  </a:cubicBezTo>
                  <a:lnTo>
                    <a:pt x="203200" y="406400"/>
                  </a:lnTo>
                  <a:cubicBezTo>
                    <a:pt x="90976" y="406400"/>
                    <a:pt x="0" y="315424"/>
                    <a:pt x="0" y="203200"/>
                  </a:cubicBezTo>
                  <a:cubicBezTo>
                    <a:pt x="0" y="90976"/>
                    <a:pt x="90976" y="0"/>
                    <a:pt x="203200" y="0"/>
                  </a:cubicBezTo>
                  <a:close/>
                </a:path>
              </a:pathLst>
            </a:custGeom>
            <a:solidFill>
              <a:srgbClr val="2F1800"/>
            </a:solidFill>
            <a:ln cap="sq">
              <a:noFill/>
              <a:prstDash val="solid"/>
              <a:miter/>
            </a:ln>
          </p:spPr>
          <p:txBody>
            <a:bodyPr/>
            <a:lstStyle/>
            <a:p>
              <a:endParaRPr lang="en-US"/>
            </a:p>
          </p:txBody>
        </p:sp>
        <p:sp>
          <p:nvSpPr>
            <p:cNvPr id="12" name="TextBox 12"/>
            <p:cNvSpPr txBox="1"/>
            <p:nvPr/>
          </p:nvSpPr>
          <p:spPr>
            <a:xfrm>
              <a:off x="0" y="76200"/>
              <a:ext cx="7568576" cy="330200"/>
            </a:xfrm>
            <a:prstGeom prst="rect">
              <a:avLst/>
            </a:prstGeom>
          </p:spPr>
          <p:txBody>
            <a:bodyPr lIns="50800" tIns="50800" rIns="50800" bIns="50800" rtlCol="0" anchor="ctr"/>
            <a:lstStyle/>
            <a:p>
              <a:pPr algn="ctr">
                <a:lnSpc>
                  <a:spcPts val="1462"/>
                </a:lnSpc>
              </a:pPr>
              <a:endParaRPr/>
            </a:p>
          </p:txBody>
        </p:sp>
      </p:grpSp>
      <p:sp>
        <p:nvSpPr>
          <p:cNvPr id="13" name="TextBox 13"/>
          <p:cNvSpPr txBox="1"/>
          <p:nvPr/>
        </p:nvSpPr>
        <p:spPr>
          <a:xfrm>
            <a:off x="7327437" y="250746"/>
            <a:ext cx="10233006" cy="430697"/>
          </a:xfrm>
          <a:prstGeom prst="rect">
            <a:avLst/>
          </a:prstGeom>
        </p:spPr>
        <p:txBody>
          <a:bodyPr lIns="0" tIns="0" rIns="0" bIns="0" rtlCol="0" anchor="t">
            <a:spAutoFit/>
          </a:bodyPr>
          <a:lstStyle/>
          <a:p>
            <a:pPr algn="ctr">
              <a:lnSpc>
                <a:spcPts val="3560"/>
              </a:lnSpc>
            </a:pPr>
            <a:r>
              <a:rPr lang="en-US" sz="2543" b="1">
                <a:solidFill>
                  <a:srgbClr val="FFFFFF"/>
                </a:solidFill>
                <a:latin typeface="DM Sans Bold"/>
                <a:ea typeface="DM Sans Bold"/>
                <a:cs typeface="DM Sans Bold"/>
                <a:sym typeface="DM Sans Bold"/>
              </a:rPr>
              <a:t>COSINE SIMILARITY DISTRIBUTION  BASED ON MAX_FEATURES</a:t>
            </a:r>
          </a:p>
        </p:txBody>
      </p:sp>
      <p:grpSp>
        <p:nvGrpSpPr>
          <p:cNvPr id="14" name="Group 14"/>
          <p:cNvGrpSpPr/>
          <p:nvPr/>
        </p:nvGrpSpPr>
        <p:grpSpPr>
          <a:xfrm>
            <a:off x="7221243" y="5660989"/>
            <a:ext cx="10698447" cy="574461"/>
            <a:chOff x="0" y="0"/>
            <a:chExt cx="7568576" cy="406400"/>
          </a:xfrm>
        </p:grpSpPr>
        <p:sp>
          <p:nvSpPr>
            <p:cNvPr id="15" name="Freeform 15"/>
            <p:cNvSpPr/>
            <p:nvPr/>
          </p:nvSpPr>
          <p:spPr>
            <a:xfrm>
              <a:off x="0" y="0"/>
              <a:ext cx="7568576" cy="406400"/>
            </a:xfrm>
            <a:custGeom>
              <a:avLst/>
              <a:gdLst/>
              <a:ahLst/>
              <a:cxnLst/>
              <a:rect l="l" t="t" r="r" b="b"/>
              <a:pathLst>
                <a:path w="7568576" h="406400">
                  <a:moveTo>
                    <a:pt x="7365376" y="0"/>
                  </a:moveTo>
                  <a:cubicBezTo>
                    <a:pt x="7477600" y="0"/>
                    <a:pt x="7568576" y="90976"/>
                    <a:pt x="7568576" y="203200"/>
                  </a:cubicBezTo>
                  <a:cubicBezTo>
                    <a:pt x="7568576" y="315424"/>
                    <a:pt x="7477600" y="406400"/>
                    <a:pt x="7365376" y="406400"/>
                  </a:cubicBezTo>
                  <a:lnTo>
                    <a:pt x="203200" y="406400"/>
                  </a:lnTo>
                  <a:cubicBezTo>
                    <a:pt x="90976" y="406400"/>
                    <a:pt x="0" y="315424"/>
                    <a:pt x="0" y="203200"/>
                  </a:cubicBezTo>
                  <a:cubicBezTo>
                    <a:pt x="0" y="90976"/>
                    <a:pt x="90976" y="0"/>
                    <a:pt x="203200" y="0"/>
                  </a:cubicBezTo>
                  <a:close/>
                </a:path>
              </a:pathLst>
            </a:custGeom>
            <a:solidFill>
              <a:srgbClr val="2F1800"/>
            </a:solidFill>
            <a:ln cap="sq">
              <a:noFill/>
              <a:prstDash val="solid"/>
              <a:miter/>
            </a:ln>
          </p:spPr>
          <p:txBody>
            <a:bodyPr/>
            <a:lstStyle/>
            <a:p>
              <a:endParaRPr lang="en-US"/>
            </a:p>
          </p:txBody>
        </p:sp>
        <p:sp>
          <p:nvSpPr>
            <p:cNvPr id="16" name="TextBox 16"/>
            <p:cNvSpPr txBox="1"/>
            <p:nvPr/>
          </p:nvSpPr>
          <p:spPr>
            <a:xfrm>
              <a:off x="0" y="76200"/>
              <a:ext cx="7568576" cy="330200"/>
            </a:xfrm>
            <a:prstGeom prst="rect">
              <a:avLst/>
            </a:prstGeom>
          </p:spPr>
          <p:txBody>
            <a:bodyPr lIns="50800" tIns="50800" rIns="50800" bIns="50800" rtlCol="0" anchor="ctr"/>
            <a:lstStyle/>
            <a:p>
              <a:pPr algn="ctr">
                <a:lnSpc>
                  <a:spcPts val="1462"/>
                </a:lnSpc>
              </a:pPr>
              <a:endParaRPr/>
            </a:p>
          </p:txBody>
        </p:sp>
      </p:grpSp>
      <p:sp>
        <p:nvSpPr>
          <p:cNvPr id="17" name="TextBox 17"/>
          <p:cNvSpPr txBox="1"/>
          <p:nvPr/>
        </p:nvSpPr>
        <p:spPr>
          <a:xfrm>
            <a:off x="7497607" y="5718600"/>
            <a:ext cx="10233006" cy="430697"/>
          </a:xfrm>
          <a:prstGeom prst="rect">
            <a:avLst/>
          </a:prstGeom>
        </p:spPr>
        <p:txBody>
          <a:bodyPr lIns="0" tIns="0" rIns="0" bIns="0" rtlCol="0" anchor="t">
            <a:spAutoFit/>
          </a:bodyPr>
          <a:lstStyle/>
          <a:p>
            <a:pPr algn="ctr">
              <a:lnSpc>
                <a:spcPts val="3560"/>
              </a:lnSpc>
            </a:pPr>
            <a:r>
              <a:rPr lang="en-US" sz="2543" b="1">
                <a:solidFill>
                  <a:srgbClr val="FFFFFF"/>
                </a:solidFill>
                <a:latin typeface="DM Sans Bold"/>
                <a:ea typeface="DM Sans Bold"/>
                <a:cs typeface="DM Sans Bold"/>
                <a:sym typeface="DM Sans Bold"/>
              </a:rPr>
              <a:t>JACCARD SIMILARITY DISTRIBUTION  PER LABEL</a:t>
            </a:r>
          </a:p>
        </p:txBody>
      </p:sp>
      <p:sp>
        <p:nvSpPr>
          <p:cNvPr id="18" name="TextBox 18"/>
          <p:cNvSpPr txBox="1"/>
          <p:nvPr/>
        </p:nvSpPr>
        <p:spPr>
          <a:xfrm>
            <a:off x="7051073" y="3947027"/>
            <a:ext cx="10868616" cy="1180602"/>
          </a:xfrm>
          <a:prstGeom prst="rect">
            <a:avLst/>
          </a:prstGeom>
        </p:spPr>
        <p:txBody>
          <a:bodyPr lIns="0" tIns="0" rIns="0" bIns="0" rtlCol="0" anchor="t">
            <a:spAutoFit/>
          </a:bodyPr>
          <a:lstStyle/>
          <a:p>
            <a:pPr algn="just">
              <a:lnSpc>
                <a:spcPts val="2364"/>
              </a:lnSpc>
              <a:spcBef>
                <a:spcPct val="0"/>
              </a:spcBef>
            </a:pPr>
            <a:r>
              <a:rPr lang="en-US" sz="1688">
                <a:solidFill>
                  <a:srgbClr val="000000"/>
                </a:solidFill>
                <a:latin typeface="DM Sans"/>
                <a:ea typeface="DM Sans"/>
                <a:cs typeface="DM Sans"/>
                <a:sym typeface="DM Sans"/>
              </a:rPr>
              <a:t>The label distribution reveals a class imbalance in the dataset: </a:t>
            </a:r>
            <a:r>
              <a:rPr lang="en-US" sz="1688" b="1">
                <a:solidFill>
                  <a:srgbClr val="000000"/>
                </a:solidFill>
                <a:latin typeface="DM Sans Bold"/>
                <a:ea typeface="DM Sans Bold"/>
                <a:cs typeface="DM Sans Bold"/>
                <a:sym typeface="DM Sans Bold"/>
              </a:rPr>
              <a:t>neutral samples (label 1) are the most frequent at 46.1%, entailment (label 0) make up 31.8%, and contradiction (label 2) are the least frequent at 22.1%</a:t>
            </a:r>
            <a:r>
              <a:rPr lang="en-US" sz="1688">
                <a:solidFill>
                  <a:srgbClr val="000000"/>
                </a:solidFill>
                <a:latin typeface="DM Sans"/>
                <a:ea typeface="DM Sans"/>
                <a:cs typeface="DM Sans"/>
                <a:sym typeface="DM Sans"/>
              </a:rPr>
              <a:t>. This imbalance could affect model training, as the model may be biased toward predicting the more common classes.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90822" y="3790622"/>
            <a:ext cx="981645" cy="4424593"/>
            <a:chOff x="0" y="0"/>
            <a:chExt cx="258540" cy="1165325"/>
          </a:xfrm>
        </p:grpSpPr>
        <p:sp>
          <p:nvSpPr>
            <p:cNvPr id="3" name="Freeform 3"/>
            <p:cNvSpPr/>
            <p:nvPr/>
          </p:nvSpPr>
          <p:spPr>
            <a:xfrm>
              <a:off x="0" y="0"/>
              <a:ext cx="258540" cy="1165325"/>
            </a:xfrm>
            <a:custGeom>
              <a:avLst/>
              <a:gdLst/>
              <a:ahLst/>
              <a:cxnLst/>
              <a:rect l="l" t="t" r="r" b="b"/>
              <a:pathLst>
                <a:path w="258540" h="1165325">
                  <a:moveTo>
                    <a:pt x="129270" y="0"/>
                  </a:moveTo>
                  <a:lnTo>
                    <a:pt x="129270" y="0"/>
                  </a:lnTo>
                  <a:cubicBezTo>
                    <a:pt x="163555" y="0"/>
                    <a:pt x="196435" y="13619"/>
                    <a:pt x="220678" y="37862"/>
                  </a:cubicBezTo>
                  <a:cubicBezTo>
                    <a:pt x="244921" y="62105"/>
                    <a:pt x="258540" y="94986"/>
                    <a:pt x="258540" y="129270"/>
                  </a:cubicBezTo>
                  <a:lnTo>
                    <a:pt x="258540" y="1036055"/>
                  </a:lnTo>
                  <a:cubicBezTo>
                    <a:pt x="258540" y="1070339"/>
                    <a:pt x="244921" y="1103220"/>
                    <a:pt x="220678" y="1127462"/>
                  </a:cubicBezTo>
                  <a:cubicBezTo>
                    <a:pt x="196435" y="1151705"/>
                    <a:pt x="163555" y="1165325"/>
                    <a:pt x="129270" y="1165325"/>
                  </a:cubicBezTo>
                  <a:lnTo>
                    <a:pt x="129270" y="1165325"/>
                  </a:lnTo>
                  <a:cubicBezTo>
                    <a:pt x="57876" y="1165325"/>
                    <a:pt x="0" y="1107449"/>
                    <a:pt x="0" y="1036055"/>
                  </a:cubicBezTo>
                  <a:lnTo>
                    <a:pt x="0" y="129270"/>
                  </a:lnTo>
                  <a:cubicBezTo>
                    <a:pt x="0" y="57876"/>
                    <a:pt x="57876" y="0"/>
                    <a:pt x="129270" y="0"/>
                  </a:cubicBezTo>
                  <a:close/>
                </a:path>
              </a:pathLst>
            </a:custGeom>
            <a:solidFill>
              <a:srgbClr val="000000">
                <a:alpha val="0"/>
              </a:srgbClr>
            </a:solidFill>
            <a:ln w="9525" cap="rnd">
              <a:solidFill>
                <a:srgbClr val="2F1800"/>
              </a:solidFill>
              <a:prstDash val="solid"/>
              <a:round/>
            </a:ln>
          </p:spPr>
          <p:txBody>
            <a:bodyPr/>
            <a:lstStyle/>
            <a:p>
              <a:endParaRPr lang="en-US"/>
            </a:p>
          </p:txBody>
        </p:sp>
        <p:sp>
          <p:nvSpPr>
            <p:cNvPr id="4" name="TextBox 4"/>
            <p:cNvSpPr txBox="1"/>
            <p:nvPr/>
          </p:nvSpPr>
          <p:spPr>
            <a:xfrm>
              <a:off x="0" y="76200"/>
              <a:ext cx="258540" cy="1089125"/>
            </a:xfrm>
            <a:prstGeom prst="rect">
              <a:avLst/>
            </a:prstGeom>
          </p:spPr>
          <p:txBody>
            <a:bodyPr lIns="50800" tIns="50800" rIns="50800" bIns="50800" rtlCol="0" anchor="ctr"/>
            <a:lstStyle/>
            <a:p>
              <a:pPr algn="ctr">
                <a:lnSpc>
                  <a:spcPts val="1462"/>
                </a:lnSpc>
              </a:pPr>
              <a:endParaRPr/>
            </a:p>
          </p:txBody>
        </p:sp>
      </p:grpSp>
      <p:sp>
        <p:nvSpPr>
          <p:cNvPr id="5" name="Freeform 5"/>
          <p:cNvSpPr/>
          <p:nvPr/>
        </p:nvSpPr>
        <p:spPr>
          <a:xfrm>
            <a:off x="205542" y="4625772"/>
            <a:ext cx="570560" cy="570560"/>
          </a:xfrm>
          <a:custGeom>
            <a:avLst/>
            <a:gdLst/>
            <a:ahLst/>
            <a:cxnLst/>
            <a:rect l="l" t="t" r="r" b="b"/>
            <a:pathLst>
              <a:path w="570560" h="570560">
                <a:moveTo>
                  <a:pt x="0" y="0"/>
                </a:moveTo>
                <a:lnTo>
                  <a:pt x="570560" y="0"/>
                </a:lnTo>
                <a:lnTo>
                  <a:pt x="570560" y="570560"/>
                </a:lnTo>
                <a:lnTo>
                  <a:pt x="0" y="57056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a:off x="205542" y="6664126"/>
            <a:ext cx="570560" cy="570560"/>
          </a:xfrm>
          <a:custGeom>
            <a:avLst/>
            <a:gdLst/>
            <a:ahLst/>
            <a:cxnLst/>
            <a:rect l="l" t="t" r="r" b="b"/>
            <a:pathLst>
              <a:path w="570560" h="570560">
                <a:moveTo>
                  <a:pt x="0" y="0"/>
                </a:moveTo>
                <a:lnTo>
                  <a:pt x="570560" y="0"/>
                </a:lnTo>
                <a:lnTo>
                  <a:pt x="570560" y="570560"/>
                </a:lnTo>
                <a:lnTo>
                  <a:pt x="0" y="57056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p:cNvSpPr/>
          <p:nvPr/>
        </p:nvSpPr>
        <p:spPr>
          <a:xfrm>
            <a:off x="12130972" y="3556094"/>
            <a:ext cx="6454701" cy="4659121"/>
          </a:xfrm>
          <a:custGeom>
            <a:avLst/>
            <a:gdLst/>
            <a:ahLst/>
            <a:cxnLst/>
            <a:rect l="l" t="t" r="r" b="b"/>
            <a:pathLst>
              <a:path w="6454701" h="4659121">
                <a:moveTo>
                  <a:pt x="0" y="0"/>
                </a:moveTo>
                <a:lnTo>
                  <a:pt x="6454701" y="0"/>
                </a:lnTo>
                <a:lnTo>
                  <a:pt x="6454701" y="4659120"/>
                </a:lnTo>
                <a:lnTo>
                  <a:pt x="0" y="465912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TextBox 8"/>
          <p:cNvSpPr txBox="1"/>
          <p:nvPr/>
        </p:nvSpPr>
        <p:spPr>
          <a:xfrm>
            <a:off x="1184834" y="2195611"/>
            <a:ext cx="8598982" cy="814027"/>
          </a:xfrm>
          <a:prstGeom prst="rect">
            <a:avLst/>
          </a:prstGeom>
        </p:spPr>
        <p:txBody>
          <a:bodyPr lIns="0" tIns="0" rIns="0" bIns="0" rtlCol="0" anchor="t">
            <a:spAutoFit/>
          </a:bodyPr>
          <a:lstStyle/>
          <a:p>
            <a:pPr algn="l">
              <a:lnSpc>
                <a:spcPts val="6173"/>
              </a:lnSpc>
            </a:pPr>
            <a:r>
              <a:rPr lang="en-US" sz="6173" b="1">
                <a:solidFill>
                  <a:srgbClr val="2F1800"/>
                </a:solidFill>
                <a:latin typeface="Saira Bold"/>
                <a:ea typeface="Saira Bold"/>
                <a:cs typeface="Saira Bold"/>
                <a:sym typeface="Saira Bold"/>
              </a:rPr>
              <a:t>EDA SUMMARIZATION</a:t>
            </a:r>
          </a:p>
        </p:txBody>
      </p:sp>
      <p:sp>
        <p:nvSpPr>
          <p:cNvPr id="9" name="TextBox 9"/>
          <p:cNvSpPr txBox="1"/>
          <p:nvPr/>
        </p:nvSpPr>
        <p:spPr>
          <a:xfrm>
            <a:off x="1184834" y="3998561"/>
            <a:ext cx="9539590" cy="5015865"/>
          </a:xfrm>
          <a:prstGeom prst="rect">
            <a:avLst/>
          </a:prstGeom>
        </p:spPr>
        <p:txBody>
          <a:bodyPr lIns="0" tIns="0" rIns="0" bIns="0" rtlCol="0" anchor="t">
            <a:spAutoFit/>
          </a:bodyPr>
          <a:lstStyle/>
          <a:p>
            <a:pPr algn="just">
              <a:lnSpc>
                <a:spcPts val="3359"/>
              </a:lnSpc>
              <a:spcBef>
                <a:spcPct val="0"/>
              </a:spcBef>
            </a:pPr>
            <a:r>
              <a:rPr lang="en-US" sz="2400" b="1">
                <a:solidFill>
                  <a:srgbClr val="2F1800"/>
                </a:solidFill>
                <a:latin typeface="DM Sans Bold"/>
                <a:ea typeface="DM Sans Bold"/>
                <a:cs typeface="DM Sans Bold"/>
                <a:sym typeface="DM Sans Bold"/>
              </a:rPr>
              <a:t>The EDA shows that ANLI R2 premises are long (~50 words) while hypotheses are much shorter (~10 words), making 256-token inputs sufficient. TF-IDF cosine similarity across different feature sizes (~15K optimal) is moderate (~0.4–0.6), indicating lexical overlap is limited. Jaccard analysis reveals very low word overlap overall (10–15%), with contradictions surprisingly having the highest overlap, highlighting that simple word matching fails. These insights explain why traditional ML struggles and why transformer-based models like BERT, which capture semantic meaning rather than surface word matches, are necessary, especially to detect contradictions where similar words convey opposite meanings.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11684" y="1211360"/>
            <a:ext cx="9361352" cy="8714568"/>
          </a:xfrm>
          <a:custGeom>
            <a:avLst/>
            <a:gdLst/>
            <a:ahLst/>
            <a:cxnLst/>
            <a:rect l="l" t="t" r="r" b="b"/>
            <a:pathLst>
              <a:path w="9361352" h="8714568">
                <a:moveTo>
                  <a:pt x="0" y="0"/>
                </a:moveTo>
                <a:lnTo>
                  <a:pt x="9361352" y="0"/>
                </a:lnTo>
                <a:lnTo>
                  <a:pt x="9361352" y="8714568"/>
                </a:lnTo>
                <a:lnTo>
                  <a:pt x="0" y="87145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10108846" y="2022322"/>
            <a:ext cx="7899141" cy="6394755"/>
          </a:xfrm>
          <a:prstGeom prst="rect">
            <a:avLst/>
          </a:prstGeom>
        </p:spPr>
        <p:txBody>
          <a:bodyPr lIns="0" tIns="0" rIns="0" bIns="0" rtlCol="0" anchor="t">
            <a:spAutoFit/>
          </a:bodyPr>
          <a:lstStyle/>
          <a:p>
            <a:pPr algn="l">
              <a:lnSpc>
                <a:spcPts val="8345"/>
              </a:lnSpc>
            </a:pPr>
            <a:r>
              <a:rPr lang="en-US" sz="8345" b="1">
                <a:solidFill>
                  <a:srgbClr val="2F1800"/>
                </a:solidFill>
                <a:latin typeface="Saira Bold"/>
                <a:ea typeface="Saira Bold"/>
                <a:cs typeface="Saira Bold"/>
                <a:sym typeface="Saira Bold"/>
              </a:rPr>
              <a:t>TRADITIONAL MACHINE LEARNING MODELS PERFORMANCE</a:t>
            </a:r>
          </a:p>
          <a:p>
            <a:pPr algn="l">
              <a:lnSpc>
                <a:spcPts val="8345"/>
              </a:lnSpc>
            </a:pPr>
            <a:r>
              <a:rPr lang="en-US" sz="8345" b="1">
                <a:solidFill>
                  <a:srgbClr val="2F1800"/>
                </a:solidFill>
                <a:latin typeface="Saira Bold"/>
                <a:ea typeface="Saira Bold"/>
                <a:cs typeface="Saira Bold"/>
                <a:sym typeface="Saira Bold"/>
              </a:rPr>
              <a:t>ANALYSIS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82303" y="736443"/>
            <a:ext cx="12773806" cy="3387156"/>
          </a:xfrm>
          <a:custGeom>
            <a:avLst/>
            <a:gdLst/>
            <a:ahLst/>
            <a:cxnLst/>
            <a:rect l="l" t="t" r="r" b="b"/>
            <a:pathLst>
              <a:path w="12773806" h="3387156">
                <a:moveTo>
                  <a:pt x="0" y="0"/>
                </a:moveTo>
                <a:lnTo>
                  <a:pt x="12773805" y="0"/>
                </a:lnTo>
                <a:lnTo>
                  <a:pt x="12773805" y="3387156"/>
                </a:lnTo>
                <a:lnTo>
                  <a:pt x="0" y="3387156"/>
                </a:lnTo>
                <a:lnTo>
                  <a:pt x="0" y="0"/>
                </a:lnTo>
                <a:close/>
              </a:path>
            </a:pathLst>
          </a:custGeom>
          <a:blipFill>
            <a:blip r:embed="rId2"/>
            <a:stretch>
              <a:fillRect t="-2090" b="-2090"/>
            </a:stretch>
          </a:blipFill>
          <a:ln w="38100" cap="sq">
            <a:solidFill>
              <a:srgbClr val="000000"/>
            </a:solidFill>
            <a:prstDash val="solid"/>
            <a:miter/>
          </a:ln>
        </p:spPr>
        <p:txBody>
          <a:bodyPr/>
          <a:lstStyle/>
          <a:p>
            <a:endParaRPr lang="en-US"/>
          </a:p>
        </p:txBody>
      </p:sp>
      <p:sp>
        <p:nvSpPr>
          <p:cNvPr id="3" name="Freeform 3"/>
          <p:cNvSpPr/>
          <p:nvPr/>
        </p:nvSpPr>
        <p:spPr>
          <a:xfrm>
            <a:off x="7517531" y="4612915"/>
            <a:ext cx="10394281" cy="4816791"/>
          </a:xfrm>
          <a:custGeom>
            <a:avLst/>
            <a:gdLst/>
            <a:ahLst/>
            <a:cxnLst/>
            <a:rect l="l" t="t" r="r" b="b"/>
            <a:pathLst>
              <a:path w="10394281" h="4816791">
                <a:moveTo>
                  <a:pt x="0" y="0"/>
                </a:moveTo>
                <a:lnTo>
                  <a:pt x="10394281" y="0"/>
                </a:lnTo>
                <a:lnTo>
                  <a:pt x="10394281" y="4816791"/>
                </a:lnTo>
                <a:lnTo>
                  <a:pt x="0" y="4816791"/>
                </a:lnTo>
                <a:lnTo>
                  <a:pt x="0" y="0"/>
                </a:lnTo>
                <a:close/>
              </a:path>
            </a:pathLst>
          </a:custGeom>
          <a:blipFill>
            <a:blip r:embed="rId3"/>
            <a:stretch>
              <a:fillRect r="-1847"/>
            </a:stretch>
          </a:blipFill>
          <a:ln w="38100" cap="sq">
            <a:solidFill>
              <a:srgbClr val="FFFFFF"/>
            </a:solidFill>
            <a:prstDash val="solid"/>
            <a:miter/>
          </a:ln>
        </p:spPr>
        <p:txBody>
          <a:bodyPr/>
          <a:lstStyle/>
          <a:p>
            <a:endParaRPr lang="en-US"/>
          </a:p>
        </p:txBody>
      </p:sp>
      <p:sp>
        <p:nvSpPr>
          <p:cNvPr id="4" name="TextBox 4"/>
          <p:cNvSpPr txBox="1"/>
          <p:nvPr/>
        </p:nvSpPr>
        <p:spPr>
          <a:xfrm>
            <a:off x="1028700" y="4467225"/>
            <a:ext cx="6080579" cy="4791075"/>
          </a:xfrm>
          <a:prstGeom prst="rect">
            <a:avLst/>
          </a:prstGeom>
        </p:spPr>
        <p:txBody>
          <a:bodyPr lIns="0" tIns="0" rIns="0" bIns="0" rtlCol="0" anchor="t">
            <a:spAutoFit/>
          </a:bodyPr>
          <a:lstStyle/>
          <a:p>
            <a:pPr algn="just">
              <a:lnSpc>
                <a:spcPts val="4200"/>
              </a:lnSpc>
              <a:spcBef>
                <a:spcPct val="0"/>
              </a:spcBef>
            </a:pPr>
            <a:r>
              <a:rPr lang="en-US" sz="3000" b="1">
                <a:solidFill>
                  <a:srgbClr val="000000"/>
                </a:solidFill>
                <a:latin typeface="DM Sans Bold"/>
                <a:ea typeface="DM Sans Bold"/>
                <a:cs typeface="DM Sans Bold"/>
                <a:sym typeface="DM Sans Bold"/>
              </a:rPr>
              <a:t>All models perform poorly, with top accuracies close to random. They are biased toward ENTAILMENT and NEUTRAL, struggling to correctly predict CONTRADICTION. Even XGBoost, the best among them, shows limited ability to handle the hardest class.</a:t>
            </a:r>
          </a:p>
        </p:txBody>
      </p:sp>
      <p:sp>
        <p:nvSpPr>
          <p:cNvPr id="5" name="TextBox 5"/>
          <p:cNvSpPr txBox="1"/>
          <p:nvPr/>
        </p:nvSpPr>
        <p:spPr>
          <a:xfrm>
            <a:off x="1028700" y="4814297"/>
            <a:ext cx="4379142" cy="305980"/>
          </a:xfrm>
          <a:prstGeom prst="rect">
            <a:avLst/>
          </a:prstGeom>
        </p:spPr>
        <p:txBody>
          <a:bodyPr lIns="0" tIns="0" rIns="0" bIns="0" rtlCol="0" anchor="t">
            <a:spAutoFit/>
          </a:bodyPr>
          <a:lstStyle/>
          <a:p>
            <a:pPr algn="ctr">
              <a:lnSpc>
                <a:spcPts val="2559"/>
              </a:lnSpc>
              <a:spcBef>
                <a:spcPct val="0"/>
              </a:spcBef>
            </a:pPr>
            <a:r>
              <a:rPr lang="en-US" sz="1828">
                <a:solidFill>
                  <a:srgbClr val="000000"/>
                </a:solidFill>
                <a:latin typeface="DM Sans"/>
                <a:ea typeface="DM Sans"/>
                <a:cs typeface="DM Sans"/>
                <a:sym typeface="DM Sans"/>
              </a:rPr>
              <a:t>`</a:t>
            </a:r>
          </a:p>
        </p:txBody>
      </p:sp>
      <p:sp>
        <p:nvSpPr>
          <p:cNvPr id="6" name="TextBox 6"/>
          <p:cNvSpPr txBox="1"/>
          <p:nvPr/>
        </p:nvSpPr>
        <p:spPr>
          <a:xfrm>
            <a:off x="13679824" y="688818"/>
            <a:ext cx="3866536" cy="3506470"/>
          </a:xfrm>
          <a:prstGeom prst="rect">
            <a:avLst/>
          </a:prstGeom>
        </p:spPr>
        <p:txBody>
          <a:bodyPr lIns="0" tIns="0" rIns="0" bIns="0" rtlCol="0" anchor="t">
            <a:spAutoFit/>
          </a:bodyPr>
          <a:lstStyle/>
          <a:p>
            <a:pPr algn="ctr">
              <a:lnSpc>
                <a:spcPts val="3079"/>
              </a:lnSpc>
              <a:spcBef>
                <a:spcPct val="0"/>
              </a:spcBef>
            </a:pPr>
            <a:r>
              <a:rPr lang="en-US" sz="2199" b="1" i="1">
                <a:solidFill>
                  <a:srgbClr val="000000"/>
                </a:solidFill>
                <a:latin typeface="DM Sans Bold Italics"/>
                <a:ea typeface="DM Sans Bold Italics"/>
                <a:cs typeface="DM Sans Bold Italics"/>
                <a:sym typeface="DM Sans Bold Italics"/>
              </a:rPr>
              <a:t>TO TRULY GAUGE A MODEL’S POTENTIAL, WE FIRST TRY TO OVERFIT IT. IF IT CAN’T EVEN CAPTURE THE TRAINING DATA (&gt;90%), NO AMOUNT OF HYPERPARAMETER TUNING WILL MAKE IT PERFORM WELL ON NEW DATA.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621810" y="2096370"/>
            <a:ext cx="16666190" cy="7315333"/>
          </a:xfrm>
          <a:prstGeom prst="rect">
            <a:avLst/>
          </a:prstGeom>
        </p:spPr>
        <p:txBody>
          <a:bodyPr lIns="0" tIns="0" rIns="0" bIns="0" rtlCol="0" anchor="t">
            <a:spAutoFit/>
          </a:bodyPr>
          <a:lstStyle/>
          <a:p>
            <a:pPr marL="646570" lvl="1" indent="-323285" algn="l">
              <a:lnSpc>
                <a:spcPts val="4192"/>
              </a:lnSpc>
              <a:buFont typeface="Arial"/>
              <a:buChar char="•"/>
            </a:pPr>
            <a:r>
              <a:rPr lang="en-US" sz="2994">
                <a:solidFill>
                  <a:srgbClr val="000000"/>
                </a:solidFill>
                <a:latin typeface="DM Sans"/>
                <a:ea typeface="DM Sans"/>
                <a:cs typeface="DM Sans"/>
                <a:sym typeface="DM Sans"/>
              </a:rPr>
              <a:t>TF-IDF + CLASSICAL ML CAPTURES SURFACE-LEVEL FEATURES, MISSING DEEPER SEMANTIC RELATIONSHIPS</a:t>
            </a:r>
          </a:p>
          <a:p>
            <a:pPr algn="l">
              <a:lnSpc>
                <a:spcPts val="4192"/>
              </a:lnSpc>
            </a:pPr>
            <a:endParaRPr lang="en-US" sz="2994">
              <a:solidFill>
                <a:srgbClr val="000000"/>
              </a:solidFill>
              <a:latin typeface="DM Sans"/>
              <a:ea typeface="DM Sans"/>
              <a:cs typeface="DM Sans"/>
              <a:sym typeface="DM Sans"/>
            </a:endParaRPr>
          </a:p>
          <a:p>
            <a:pPr marL="646570" lvl="1" indent="-323285" algn="l">
              <a:lnSpc>
                <a:spcPts val="4192"/>
              </a:lnSpc>
              <a:buFont typeface="Arial"/>
              <a:buChar char="•"/>
            </a:pPr>
            <a:r>
              <a:rPr lang="en-US" sz="2994">
                <a:solidFill>
                  <a:srgbClr val="000000"/>
                </a:solidFill>
                <a:latin typeface="DM Sans"/>
                <a:ea typeface="DM Sans"/>
                <a:cs typeface="DM Sans"/>
                <a:sym typeface="DM Sans"/>
              </a:rPr>
              <a:t>LIMITED CONTEXT UNDERSTANDING: CANNOT MODEL WORD ORDER, SYNTAX, OR LONG-RANGE DEPENDENCIES</a:t>
            </a:r>
          </a:p>
          <a:p>
            <a:pPr algn="l">
              <a:lnSpc>
                <a:spcPts val="4192"/>
              </a:lnSpc>
            </a:pPr>
            <a:endParaRPr lang="en-US" sz="2994">
              <a:solidFill>
                <a:srgbClr val="000000"/>
              </a:solidFill>
              <a:latin typeface="DM Sans"/>
              <a:ea typeface="DM Sans"/>
              <a:cs typeface="DM Sans"/>
              <a:sym typeface="DM Sans"/>
            </a:endParaRPr>
          </a:p>
          <a:p>
            <a:pPr marL="646570" lvl="1" indent="-323285" algn="l">
              <a:lnSpc>
                <a:spcPts val="4192"/>
              </a:lnSpc>
              <a:buFont typeface="Arial"/>
              <a:buChar char="•"/>
            </a:pPr>
            <a:r>
              <a:rPr lang="en-US" sz="2994">
                <a:solidFill>
                  <a:srgbClr val="000000"/>
                </a:solidFill>
                <a:latin typeface="DM Sans"/>
                <a:ea typeface="DM Sans"/>
                <a:cs typeface="DM Sans"/>
                <a:sym typeface="DM Sans"/>
              </a:rPr>
              <a:t>OVERFITTING OBSERVED: TRAINING ACCURACY MUCH HIGHER THAN TEST (E.G., 72% → 36%) BUT STILL CAN’T ACHIEVE &gt;=90% ACCURACY.</a:t>
            </a:r>
          </a:p>
          <a:p>
            <a:pPr algn="l">
              <a:lnSpc>
                <a:spcPts val="4192"/>
              </a:lnSpc>
            </a:pPr>
            <a:endParaRPr lang="en-US" sz="2994">
              <a:solidFill>
                <a:srgbClr val="000000"/>
              </a:solidFill>
              <a:latin typeface="DM Sans"/>
              <a:ea typeface="DM Sans"/>
              <a:cs typeface="DM Sans"/>
              <a:sym typeface="DM Sans"/>
            </a:endParaRPr>
          </a:p>
          <a:p>
            <a:pPr marL="646570" lvl="1" indent="-323285" algn="l">
              <a:lnSpc>
                <a:spcPts val="4192"/>
              </a:lnSpc>
              <a:buFont typeface="Arial"/>
              <a:buChar char="•"/>
            </a:pPr>
            <a:r>
              <a:rPr lang="en-US" sz="2994">
                <a:solidFill>
                  <a:srgbClr val="000000"/>
                </a:solidFill>
                <a:latin typeface="DM Sans"/>
                <a:ea typeface="DM Sans"/>
                <a:cs typeface="DM Sans"/>
                <a:sym typeface="DM Sans"/>
              </a:rPr>
              <a:t>PERFORMANCE CEILING: BEST XGBOOST ONLY 38.7%, SHOWING LIMITED IMPROVEMENT OVER BASELINE</a:t>
            </a:r>
          </a:p>
          <a:p>
            <a:pPr algn="l">
              <a:lnSpc>
                <a:spcPts val="4192"/>
              </a:lnSpc>
            </a:pPr>
            <a:endParaRPr lang="en-US" sz="2994">
              <a:solidFill>
                <a:srgbClr val="000000"/>
              </a:solidFill>
              <a:latin typeface="DM Sans"/>
              <a:ea typeface="DM Sans"/>
              <a:cs typeface="DM Sans"/>
              <a:sym typeface="DM Sans"/>
            </a:endParaRPr>
          </a:p>
          <a:p>
            <a:pPr marL="646570" lvl="1" indent="-323285" algn="l">
              <a:lnSpc>
                <a:spcPts val="4192"/>
              </a:lnSpc>
              <a:buFont typeface="Arial"/>
              <a:buChar char="•"/>
            </a:pPr>
            <a:r>
              <a:rPr lang="en-US" sz="2994">
                <a:solidFill>
                  <a:srgbClr val="000000"/>
                </a:solidFill>
                <a:latin typeface="DM Sans"/>
                <a:ea typeface="DM Sans"/>
                <a:cs typeface="DM Sans"/>
                <a:sym typeface="DM Sans"/>
              </a:rPr>
              <a:t>COMPUTATIONALLY EFFICIENT BUT LACKS REPRESENTATIONAL POWER FOR COMPLEX NLI PATTERNS</a:t>
            </a:r>
          </a:p>
        </p:txBody>
      </p:sp>
      <p:sp>
        <p:nvSpPr>
          <p:cNvPr id="3" name="TextBox 3"/>
          <p:cNvSpPr txBox="1"/>
          <p:nvPr/>
        </p:nvSpPr>
        <p:spPr>
          <a:xfrm>
            <a:off x="416442" y="952500"/>
            <a:ext cx="14863726" cy="679450"/>
          </a:xfrm>
          <a:prstGeom prst="rect">
            <a:avLst/>
          </a:prstGeom>
        </p:spPr>
        <p:txBody>
          <a:bodyPr lIns="0" tIns="0" rIns="0" bIns="0" rtlCol="0" anchor="t">
            <a:spAutoFit/>
          </a:bodyPr>
          <a:lstStyle/>
          <a:p>
            <a:pPr algn="ctr">
              <a:lnSpc>
                <a:spcPts val="5599"/>
              </a:lnSpc>
              <a:spcBef>
                <a:spcPct val="0"/>
              </a:spcBef>
            </a:pPr>
            <a:r>
              <a:rPr lang="en-US" sz="3999" b="1">
                <a:solidFill>
                  <a:srgbClr val="000000"/>
                </a:solidFill>
                <a:latin typeface="DM Sans Bold"/>
                <a:ea typeface="DM Sans Bold"/>
                <a:cs typeface="DM Sans Bold"/>
                <a:sym typeface="DM Sans Bold"/>
              </a:rPr>
              <a:t>WHY TRADITIONAL ML MODELS LAG BEHIND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160901" y="2308626"/>
            <a:ext cx="7899141" cy="5338892"/>
          </a:xfrm>
          <a:prstGeom prst="rect">
            <a:avLst/>
          </a:prstGeom>
        </p:spPr>
        <p:txBody>
          <a:bodyPr lIns="0" tIns="0" rIns="0" bIns="0" rtlCol="0" anchor="t">
            <a:spAutoFit/>
          </a:bodyPr>
          <a:lstStyle/>
          <a:p>
            <a:pPr algn="l">
              <a:lnSpc>
                <a:spcPts val="8345"/>
              </a:lnSpc>
            </a:pPr>
            <a:r>
              <a:rPr lang="en-US" sz="8345" b="1">
                <a:solidFill>
                  <a:srgbClr val="2F1800"/>
                </a:solidFill>
                <a:latin typeface="Saira Bold"/>
                <a:ea typeface="Saira Bold"/>
                <a:cs typeface="Saira Bold"/>
                <a:sym typeface="Saira Bold"/>
              </a:rPr>
              <a:t>DEEP  LEARNING MODELS PERFORMANCE</a:t>
            </a:r>
          </a:p>
          <a:p>
            <a:pPr algn="l">
              <a:lnSpc>
                <a:spcPts val="8345"/>
              </a:lnSpc>
            </a:pPr>
            <a:r>
              <a:rPr lang="en-US" sz="8345" b="1">
                <a:solidFill>
                  <a:srgbClr val="2F1800"/>
                </a:solidFill>
                <a:latin typeface="Saira Bold"/>
                <a:ea typeface="Saira Bold"/>
                <a:cs typeface="Saira Bold"/>
                <a:sym typeface="Saira Bold"/>
              </a:rPr>
              <a:t>ANALYSIS</a:t>
            </a:r>
          </a:p>
        </p:txBody>
      </p:sp>
      <p:sp>
        <p:nvSpPr>
          <p:cNvPr id="3" name="Freeform 3"/>
          <p:cNvSpPr/>
          <p:nvPr/>
        </p:nvSpPr>
        <p:spPr>
          <a:xfrm>
            <a:off x="586230" y="1028700"/>
            <a:ext cx="9256196" cy="8229600"/>
          </a:xfrm>
          <a:custGeom>
            <a:avLst/>
            <a:gdLst/>
            <a:ahLst/>
            <a:cxnLst/>
            <a:rect l="l" t="t" r="r" b="b"/>
            <a:pathLst>
              <a:path w="9256196" h="8229600">
                <a:moveTo>
                  <a:pt x="0" y="0"/>
                </a:moveTo>
                <a:lnTo>
                  <a:pt x="9256196" y="0"/>
                </a:lnTo>
                <a:lnTo>
                  <a:pt x="9256196" y="8229600"/>
                </a:lnTo>
                <a:lnTo>
                  <a:pt x="0" y="82296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35922" y="2765301"/>
            <a:ext cx="7008110" cy="3103245"/>
          </a:xfrm>
          <a:prstGeom prst="rect">
            <a:avLst/>
          </a:prstGeom>
        </p:spPr>
        <p:txBody>
          <a:bodyPr lIns="0" tIns="0" rIns="0" bIns="0" rtlCol="0" anchor="t">
            <a:spAutoFit/>
          </a:bodyPr>
          <a:lstStyle/>
          <a:p>
            <a:pPr algn="l">
              <a:lnSpc>
                <a:spcPts val="1800"/>
              </a:lnSpc>
              <a:spcBef>
                <a:spcPct val="0"/>
              </a:spcBef>
            </a:pPr>
            <a:r>
              <a:rPr lang="en-US" sz="1800" b="1">
                <a:solidFill>
                  <a:srgbClr val="000000"/>
                </a:solidFill>
                <a:latin typeface="Saira Bold"/>
                <a:ea typeface="Saira Bold"/>
                <a:cs typeface="Saira Bold"/>
                <a:sym typeface="Saira Bold"/>
              </a:rPr>
              <a:t>1. Baseline Evaluation:</a:t>
            </a:r>
          </a:p>
          <a:p>
            <a:pPr algn="l">
              <a:lnSpc>
                <a:spcPts val="2106"/>
              </a:lnSpc>
            </a:pPr>
            <a:endParaRPr lang="en-US" sz="1800" b="1">
              <a:solidFill>
                <a:srgbClr val="000000"/>
              </a:solidFill>
              <a:latin typeface="Saira Bold"/>
              <a:ea typeface="Saira Bold"/>
              <a:cs typeface="Saira Bold"/>
              <a:sym typeface="Saira Bold"/>
            </a:endParaRPr>
          </a:p>
          <a:p>
            <a:pPr algn="l">
              <a:lnSpc>
                <a:spcPts val="2106"/>
              </a:lnSpc>
            </a:pPr>
            <a:r>
              <a:rPr lang="en-US" sz="1800">
                <a:solidFill>
                  <a:srgbClr val="000000"/>
                </a:solidFill>
                <a:latin typeface="Saira"/>
                <a:ea typeface="Saira"/>
                <a:cs typeface="Saira"/>
                <a:sym typeface="Saira"/>
              </a:rPr>
              <a:t>Started with DistilRoBERTa pre-trained on SNLI/MNLI datasets to establish a reference point.</a:t>
            </a:r>
          </a:p>
          <a:p>
            <a:pPr algn="l">
              <a:lnSpc>
                <a:spcPts val="2106"/>
              </a:lnSpc>
            </a:pPr>
            <a:endParaRPr lang="en-US" sz="1800">
              <a:solidFill>
                <a:srgbClr val="000000"/>
              </a:solidFill>
              <a:latin typeface="Saira"/>
              <a:ea typeface="Saira"/>
              <a:cs typeface="Saira"/>
              <a:sym typeface="Saira"/>
            </a:endParaRPr>
          </a:p>
          <a:p>
            <a:pPr algn="l">
              <a:lnSpc>
                <a:spcPts val="2106"/>
              </a:lnSpc>
            </a:pPr>
            <a:r>
              <a:rPr lang="en-US" sz="1800">
                <a:solidFill>
                  <a:srgbClr val="000000"/>
                </a:solidFill>
                <a:latin typeface="Saira"/>
                <a:ea typeface="Saira"/>
                <a:cs typeface="Saira"/>
                <a:sym typeface="Saira"/>
              </a:rPr>
              <a:t>Evaluated performance on ANLI to understand baseline accuracy (33.7%) and Macro F1 (0.242).</a:t>
            </a:r>
          </a:p>
          <a:p>
            <a:pPr algn="l">
              <a:lnSpc>
                <a:spcPts val="2106"/>
              </a:lnSpc>
            </a:pPr>
            <a:endParaRPr lang="en-US" sz="1800">
              <a:solidFill>
                <a:srgbClr val="000000"/>
              </a:solidFill>
              <a:latin typeface="Saira"/>
              <a:ea typeface="Saira"/>
              <a:cs typeface="Saira"/>
              <a:sym typeface="Saira"/>
            </a:endParaRPr>
          </a:p>
          <a:p>
            <a:pPr algn="l">
              <a:lnSpc>
                <a:spcPts val="2106"/>
              </a:lnSpc>
            </a:pPr>
            <a:r>
              <a:rPr lang="en-US" sz="1800">
                <a:solidFill>
                  <a:srgbClr val="000000"/>
                </a:solidFill>
                <a:latin typeface="Saira"/>
                <a:ea typeface="Saira"/>
                <a:cs typeface="Saira"/>
                <a:sym typeface="Saira"/>
              </a:rPr>
              <a:t>Baseline revealed limitations due to semantic complexity and adversarial examples.</a:t>
            </a:r>
          </a:p>
          <a:p>
            <a:pPr algn="l">
              <a:lnSpc>
                <a:spcPts val="1800"/>
              </a:lnSpc>
              <a:spcBef>
                <a:spcPct val="0"/>
              </a:spcBef>
            </a:pPr>
            <a:endParaRPr lang="en-US" sz="1800">
              <a:solidFill>
                <a:srgbClr val="000000"/>
              </a:solidFill>
              <a:latin typeface="Saira"/>
              <a:ea typeface="Saira"/>
              <a:cs typeface="Saira"/>
              <a:sym typeface="Saira"/>
            </a:endParaRPr>
          </a:p>
          <a:p>
            <a:pPr algn="l">
              <a:lnSpc>
                <a:spcPts val="1800"/>
              </a:lnSpc>
              <a:spcBef>
                <a:spcPct val="0"/>
              </a:spcBef>
            </a:pPr>
            <a:endParaRPr lang="en-US" sz="1800">
              <a:solidFill>
                <a:srgbClr val="000000"/>
              </a:solidFill>
              <a:latin typeface="Saira"/>
              <a:ea typeface="Saira"/>
              <a:cs typeface="Saira"/>
              <a:sym typeface="Saira"/>
            </a:endParaRPr>
          </a:p>
        </p:txBody>
      </p:sp>
      <p:sp>
        <p:nvSpPr>
          <p:cNvPr id="3" name="TextBox 3"/>
          <p:cNvSpPr txBox="1"/>
          <p:nvPr/>
        </p:nvSpPr>
        <p:spPr>
          <a:xfrm>
            <a:off x="588741" y="417932"/>
            <a:ext cx="17352496" cy="1816100"/>
          </a:xfrm>
          <a:prstGeom prst="rect">
            <a:avLst/>
          </a:prstGeom>
        </p:spPr>
        <p:txBody>
          <a:bodyPr lIns="0" tIns="0" rIns="0" bIns="0" rtlCol="0" anchor="t">
            <a:spAutoFit/>
          </a:bodyPr>
          <a:lstStyle/>
          <a:p>
            <a:pPr algn="ctr">
              <a:lnSpc>
                <a:spcPts val="6999"/>
              </a:lnSpc>
              <a:spcBef>
                <a:spcPct val="0"/>
              </a:spcBef>
            </a:pPr>
            <a:r>
              <a:rPr lang="en-US" sz="6999" b="1">
                <a:solidFill>
                  <a:srgbClr val="000000"/>
                </a:solidFill>
                <a:latin typeface="Saira Bold"/>
                <a:ea typeface="Saira Bold"/>
                <a:cs typeface="Saira Bold"/>
                <a:sym typeface="Saira Bold"/>
              </a:rPr>
              <a:t>METHODOLOGY FOR BERT FINE-TUNING ON ANLI</a:t>
            </a:r>
          </a:p>
        </p:txBody>
      </p:sp>
      <p:sp>
        <p:nvSpPr>
          <p:cNvPr id="4" name="TextBox 4"/>
          <p:cNvSpPr txBox="1"/>
          <p:nvPr/>
        </p:nvSpPr>
        <p:spPr>
          <a:xfrm>
            <a:off x="8693501" y="2680719"/>
            <a:ext cx="9247736" cy="7273145"/>
          </a:xfrm>
          <a:prstGeom prst="rect">
            <a:avLst/>
          </a:prstGeom>
        </p:spPr>
        <p:txBody>
          <a:bodyPr lIns="0" tIns="0" rIns="0" bIns="0" rtlCol="0" anchor="t">
            <a:spAutoFit/>
          </a:bodyPr>
          <a:lstStyle/>
          <a:p>
            <a:pPr algn="l">
              <a:lnSpc>
                <a:spcPts val="1800"/>
              </a:lnSpc>
              <a:spcBef>
                <a:spcPct val="0"/>
              </a:spcBef>
            </a:pPr>
            <a:r>
              <a:rPr lang="en-US" sz="1800" b="1" dirty="0">
                <a:solidFill>
                  <a:srgbClr val="000000"/>
                </a:solidFill>
                <a:latin typeface="Saira Bold"/>
                <a:ea typeface="Saira Bold"/>
                <a:cs typeface="Saira Bold"/>
                <a:sym typeface="Saira Bold"/>
              </a:rPr>
              <a:t>2. BERT Fine-Tuning:</a:t>
            </a:r>
          </a:p>
          <a:p>
            <a:pPr algn="l">
              <a:lnSpc>
                <a:spcPts val="2124"/>
              </a:lnSpc>
            </a:pPr>
            <a:endParaRPr lang="en-US" sz="1800" b="1" dirty="0">
              <a:solidFill>
                <a:srgbClr val="000000"/>
              </a:solidFill>
              <a:latin typeface="Saira Bold"/>
              <a:ea typeface="Saira Bold"/>
              <a:cs typeface="Saira Bold"/>
              <a:sym typeface="Saira Bold"/>
            </a:endParaRPr>
          </a:p>
          <a:p>
            <a:pPr algn="l">
              <a:lnSpc>
                <a:spcPts val="2124"/>
              </a:lnSpc>
            </a:pPr>
            <a:r>
              <a:rPr lang="en-US" sz="1800" dirty="0">
                <a:solidFill>
                  <a:srgbClr val="000000"/>
                </a:solidFill>
                <a:latin typeface="Saira"/>
                <a:ea typeface="Saira"/>
                <a:cs typeface="Saira"/>
                <a:sym typeface="Saira"/>
              </a:rPr>
              <a:t>BERT-base, BERT-large and </a:t>
            </a:r>
            <a:r>
              <a:rPr lang="en-US" sz="1800" dirty="0" err="1">
                <a:solidFill>
                  <a:srgbClr val="000000"/>
                </a:solidFill>
                <a:latin typeface="Saira"/>
                <a:ea typeface="Saira"/>
                <a:cs typeface="Saira"/>
                <a:sym typeface="Saira"/>
              </a:rPr>
              <a:t>DeBERTa</a:t>
            </a:r>
            <a:r>
              <a:rPr lang="en-US" sz="1800" dirty="0">
                <a:solidFill>
                  <a:srgbClr val="000000"/>
                </a:solidFill>
                <a:latin typeface="Saira"/>
                <a:ea typeface="Saira"/>
                <a:cs typeface="Saira"/>
                <a:sym typeface="Saira"/>
              </a:rPr>
              <a:t> models were fully fine-tuned on the ANLI dataset. The training aimed to leverage BERT’s contextual embeddings to capture deeper semantic relationships that traditional ML or pre-trained smaller models miss.</a:t>
            </a:r>
          </a:p>
          <a:p>
            <a:pPr algn="l">
              <a:lnSpc>
                <a:spcPts val="1800"/>
              </a:lnSpc>
              <a:spcBef>
                <a:spcPct val="0"/>
              </a:spcBef>
            </a:pPr>
            <a:endParaRPr lang="en-US" sz="1800" dirty="0">
              <a:solidFill>
                <a:srgbClr val="000000"/>
              </a:solidFill>
              <a:latin typeface="Saira"/>
              <a:ea typeface="Saira"/>
              <a:cs typeface="Saira"/>
              <a:sym typeface="Saira"/>
            </a:endParaRPr>
          </a:p>
          <a:p>
            <a:pPr algn="l">
              <a:lnSpc>
                <a:spcPts val="1800"/>
              </a:lnSpc>
              <a:spcBef>
                <a:spcPct val="0"/>
              </a:spcBef>
            </a:pPr>
            <a:r>
              <a:rPr lang="en-US" sz="1800" b="1" dirty="0">
                <a:solidFill>
                  <a:srgbClr val="000000"/>
                </a:solidFill>
                <a:latin typeface="Saira Bold"/>
                <a:ea typeface="Saira Bold"/>
                <a:cs typeface="Saira Bold"/>
                <a:sym typeface="Saira Bold"/>
              </a:rPr>
              <a:t>Training Enhancements:</a:t>
            </a:r>
          </a:p>
          <a:p>
            <a:pPr algn="l">
              <a:lnSpc>
                <a:spcPts val="1800"/>
              </a:lnSpc>
              <a:spcBef>
                <a:spcPct val="0"/>
              </a:spcBef>
            </a:pPr>
            <a:endParaRPr lang="en-US" sz="1800" b="1" dirty="0">
              <a:solidFill>
                <a:srgbClr val="000000"/>
              </a:solidFill>
              <a:latin typeface="Saira Bold"/>
              <a:ea typeface="Saira Bold"/>
              <a:cs typeface="Saira Bold"/>
              <a:sym typeface="Saira Bold"/>
            </a:endParaRPr>
          </a:p>
          <a:p>
            <a:pPr marL="388620" lvl="1" indent="-194310" algn="l">
              <a:lnSpc>
                <a:spcPts val="1800"/>
              </a:lnSpc>
              <a:buFont typeface="Arial"/>
              <a:buChar char="•"/>
            </a:pPr>
            <a:r>
              <a:rPr lang="en-US" sz="1800" dirty="0">
                <a:solidFill>
                  <a:srgbClr val="000000"/>
                </a:solidFill>
                <a:latin typeface="Saira"/>
                <a:ea typeface="Saira"/>
                <a:cs typeface="Saira"/>
                <a:sym typeface="Saira"/>
              </a:rPr>
              <a:t>Gradient Accumulation: Simulated larger batch sizes without exceeding GPU memory.</a:t>
            </a:r>
          </a:p>
          <a:p>
            <a:pPr algn="l">
              <a:lnSpc>
                <a:spcPts val="1800"/>
              </a:lnSpc>
            </a:pPr>
            <a:endParaRPr lang="en-US" sz="1800" dirty="0">
              <a:solidFill>
                <a:srgbClr val="000000"/>
              </a:solidFill>
              <a:latin typeface="Saira"/>
              <a:ea typeface="Saira"/>
              <a:cs typeface="Saira"/>
              <a:sym typeface="Saira"/>
            </a:endParaRPr>
          </a:p>
          <a:p>
            <a:pPr marL="388620" lvl="1" indent="-194310" algn="l">
              <a:lnSpc>
                <a:spcPts val="1800"/>
              </a:lnSpc>
              <a:buFont typeface="Arial"/>
              <a:buChar char="•"/>
            </a:pPr>
            <a:r>
              <a:rPr lang="en-US" sz="1800" dirty="0">
                <a:solidFill>
                  <a:srgbClr val="000000"/>
                </a:solidFill>
                <a:latin typeface="Saira"/>
                <a:ea typeface="Saira"/>
                <a:cs typeface="Saira"/>
                <a:sym typeface="Saira"/>
              </a:rPr>
              <a:t>Mixed Precision (FP16): Faster computation and reduced memory usage.</a:t>
            </a:r>
          </a:p>
          <a:p>
            <a:pPr algn="l">
              <a:lnSpc>
                <a:spcPts val="1800"/>
              </a:lnSpc>
            </a:pPr>
            <a:endParaRPr lang="en-US" sz="1800" dirty="0">
              <a:solidFill>
                <a:srgbClr val="000000"/>
              </a:solidFill>
              <a:latin typeface="Saira"/>
              <a:ea typeface="Saira"/>
              <a:cs typeface="Saira"/>
              <a:sym typeface="Saira"/>
            </a:endParaRPr>
          </a:p>
          <a:p>
            <a:pPr marL="388620" lvl="1" indent="-194310" algn="l">
              <a:lnSpc>
                <a:spcPts val="1800"/>
              </a:lnSpc>
              <a:buFont typeface="Arial"/>
              <a:buChar char="•"/>
            </a:pPr>
            <a:r>
              <a:rPr lang="en-US" sz="1800" dirty="0">
                <a:solidFill>
                  <a:srgbClr val="000000"/>
                </a:solidFill>
                <a:latin typeface="Saira"/>
                <a:ea typeface="Saira"/>
                <a:cs typeface="Saira"/>
                <a:sym typeface="Saira"/>
              </a:rPr>
              <a:t>Gradient Clipping: Prevented exploding gradients during training.</a:t>
            </a:r>
          </a:p>
          <a:p>
            <a:pPr algn="l">
              <a:lnSpc>
                <a:spcPts val="1800"/>
              </a:lnSpc>
            </a:pPr>
            <a:endParaRPr lang="en-US" sz="1800" dirty="0">
              <a:solidFill>
                <a:srgbClr val="000000"/>
              </a:solidFill>
              <a:latin typeface="Saira"/>
              <a:ea typeface="Saira"/>
              <a:cs typeface="Saira"/>
              <a:sym typeface="Saira"/>
            </a:endParaRPr>
          </a:p>
          <a:p>
            <a:pPr marL="388620" lvl="1" indent="-194310" algn="l">
              <a:lnSpc>
                <a:spcPts val="1800"/>
              </a:lnSpc>
              <a:buFont typeface="Arial"/>
              <a:buChar char="•"/>
            </a:pPr>
            <a:r>
              <a:rPr lang="en-US" sz="1800" dirty="0">
                <a:solidFill>
                  <a:srgbClr val="000000"/>
                </a:solidFill>
                <a:latin typeface="Saira"/>
                <a:ea typeface="Saira"/>
                <a:cs typeface="Saira"/>
                <a:sym typeface="Saira"/>
              </a:rPr>
              <a:t>Early Stopping: Monitored validation Macro F1 to avoid overfitting.</a:t>
            </a:r>
          </a:p>
          <a:p>
            <a:pPr algn="l">
              <a:lnSpc>
                <a:spcPts val="1800"/>
              </a:lnSpc>
              <a:spcBef>
                <a:spcPct val="0"/>
              </a:spcBef>
            </a:pPr>
            <a:endParaRPr lang="en-US" sz="1800" dirty="0">
              <a:solidFill>
                <a:srgbClr val="000000"/>
              </a:solidFill>
              <a:latin typeface="Saira"/>
              <a:ea typeface="Saira"/>
              <a:cs typeface="Saira"/>
              <a:sym typeface="Saira"/>
            </a:endParaRPr>
          </a:p>
          <a:p>
            <a:pPr algn="l">
              <a:lnSpc>
                <a:spcPts val="1800"/>
              </a:lnSpc>
              <a:spcBef>
                <a:spcPct val="0"/>
              </a:spcBef>
            </a:pPr>
            <a:r>
              <a:rPr lang="en-US" sz="1800" b="1" dirty="0">
                <a:solidFill>
                  <a:srgbClr val="000000"/>
                </a:solidFill>
                <a:latin typeface="Saira Bold"/>
                <a:ea typeface="Saira Bold"/>
                <a:cs typeface="Saira Bold"/>
                <a:sym typeface="Saira Bold"/>
              </a:rPr>
              <a:t>Evaluation Metrics:</a:t>
            </a:r>
          </a:p>
          <a:p>
            <a:pPr algn="l">
              <a:lnSpc>
                <a:spcPts val="2124"/>
              </a:lnSpc>
            </a:pPr>
            <a:endParaRPr lang="en-US" sz="1800" b="1" dirty="0">
              <a:solidFill>
                <a:srgbClr val="000000"/>
              </a:solidFill>
              <a:latin typeface="Saira Bold"/>
              <a:ea typeface="Saira Bold"/>
              <a:cs typeface="Saira Bold"/>
              <a:sym typeface="Saira Bold"/>
            </a:endParaRPr>
          </a:p>
          <a:p>
            <a:pPr marL="388620" lvl="1" indent="-194310" algn="l">
              <a:lnSpc>
                <a:spcPts val="2124"/>
              </a:lnSpc>
              <a:buFont typeface="Arial"/>
              <a:buChar char="•"/>
            </a:pPr>
            <a:r>
              <a:rPr lang="en-US" sz="1800" dirty="0">
                <a:solidFill>
                  <a:srgbClr val="000000"/>
                </a:solidFill>
                <a:latin typeface="Saira"/>
                <a:ea typeface="Saira"/>
                <a:cs typeface="Saira"/>
                <a:sym typeface="Saira"/>
              </a:rPr>
              <a:t>Accuracy: Overall percentage of correct predictions.</a:t>
            </a:r>
          </a:p>
          <a:p>
            <a:pPr algn="l">
              <a:lnSpc>
                <a:spcPts val="2124"/>
              </a:lnSpc>
            </a:pPr>
            <a:endParaRPr lang="en-US" sz="1800" dirty="0">
              <a:solidFill>
                <a:srgbClr val="000000"/>
              </a:solidFill>
              <a:latin typeface="Saira"/>
              <a:ea typeface="Saira"/>
              <a:cs typeface="Saira"/>
              <a:sym typeface="Saira"/>
            </a:endParaRPr>
          </a:p>
          <a:p>
            <a:pPr marL="388620" lvl="1" indent="-194310" algn="l">
              <a:lnSpc>
                <a:spcPts val="2124"/>
              </a:lnSpc>
              <a:buFont typeface="Arial"/>
              <a:buChar char="•"/>
            </a:pPr>
            <a:r>
              <a:rPr lang="en-US" sz="1800" dirty="0">
                <a:solidFill>
                  <a:srgbClr val="000000"/>
                </a:solidFill>
                <a:latin typeface="Saira"/>
                <a:ea typeface="Saira"/>
                <a:cs typeface="Saira"/>
                <a:sym typeface="Saira"/>
              </a:rPr>
              <a:t>Macro F1: Measures class-balanced performance; crucial since ANLI has three classes and adversarial examples can skew results.</a:t>
            </a:r>
          </a:p>
          <a:p>
            <a:pPr algn="l">
              <a:lnSpc>
                <a:spcPts val="2124"/>
              </a:lnSpc>
            </a:pPr>
            <a:endParaRPr lang="en-US" sz="1800" dirty="0">
              <a:solidFill>
                <a:srgbClr val="000000"/>
              </a:solidFill>
              <a:latin typeface="Saira"/>
              <a:ea typeface="Saira"/>
              <a:cs typeface="Saira"/>
              <a:sym typeface="Saira"/>
            </a:endParaRPr>
          </a:p>
          <a:p>
            <a:pPr marL="388620" lvl="1" indent="-194310" algn="l">
              <a:lnSpc>
                <a:spcPts val="2124"/>
              </a:lnSpc>
              <a:buFont typeface="Arial"/>
              <a:buChar char="•"/>
            </a:pPr>
            <a:r>
              <a:rPr lang="en-US" sz="1800" dirty="0">
                <a:solidFill>
                  <a:srgbClr val="000000"/>
                </a:solidFill>
                <a:latin typeface="Saira"/>
                <a:ea typeface="Saira"/>
                <a:cs typeface="Saira"/>
                <a:sym typeface="Saira"/>
              </a:rPr>
              <a:t>Weighted F1: Accounts for class imbalance, providing a real-world weighted performance estimate.</a:t>
            </a:r>
          </a:p>
          <a:p>
            <a:pPr algn="l">
              <a:lnSpc>
                <a:spcPts val="2124"/>
              </a:lnSpc>
            </a:pPr>
            <a:endParaRPr lang="en-US" sz="1800" dirty="0">
              <a:solidFill>
                <a:srgbClr val="000000"/>
              </a:solidFill>
              <a:latin typeface="Saira"/>
              <a:ea typeface="Saira"/>
              <a:cs typeface="Saira"/>
              <a:sym typeface="Saira"/>
            </a:endParaRPr>
          </a:p>
          <a:p>
            <a:pPr marL="388620" lvl="1" indent="-194310" algn="l">
              <a:lnSpc>
                <a:spcPts val="2124"/>
              </a:lnSpc>
              <a:buFont typeface="Arial"/>
              <a:buChar char="•"/>
            </a:pPr>
            <a:r>
              <a:rPr lang="en-US" sz="1800" dirty="0">
                <a:solidFill>
                  <a:srgbClr val="000000"/>
                </a:solidFill>
                <a:latin typeface="Saira"/>
                <a:ea typeface="Saira"/>
                <a:cs typeface="Saira"/>
                <a:sym typeface="Saira"/>
              </a:rPr>
              <a:t>Confusion Matrices: Used to inspect per-class performance, especially for challenging CONTRADICTION examples.</a:t>
            </a:r>
          </a:p>
        </p:txBody>
      </p:sp>
      <p:sp>
        <p:nvSpPr>
          <p:cNvPr id="5" name="TextBox 5"/>
          <p:cNvSpPr txBox="1"/>
          <p:nvPr/>
        </p:nvSpPr>
        <p:spPr>
          <a:xfrm>
            <a:off x="835922" y="5791965"/>
            <a:ext cx="7245027" cy="4086225"/>
          </a:xfrm>
          <a:prstGeom prst="rect">
            <a:avLst/>
          </a:prstGeom>
        </p:spPr>
        <p:txBody>
          <a:bodyPr lIns="0" tIns="0" rIns="0" bIns="0" rtlCol="0" anchor="t">
            <a:spAutoFit/>
          </a:bodyPr>
          <a:lstStyle/>
          <a:p>
            <a:pPr algn="l">
              <a:lnSpc>
                <a:spcPts val="1800"/>
              </a:lnSpc>
              <a:spcBef>
                <a:spcPct val="0"/>
              </a:spcBef>
            </a:pPr>
            <a:r>
              <a:rPr lang="en-US" sz="1800" b="1">
                <a:solidFill>
                  <a:srgbClr val="000000"/>
                </a:solidFill>
                <a:latin typeface="Saira Bold"/>
                <a:ea typeface="Saira Bold"/>
                <a:cs typeface="Saira Bold"/>
                <a:sym typeface="Saira Bold"/>
              </a:rPr>
              <a:t>3. Prompt-Based Input with Chain-of-Thought (CoT):</a:t>
            </a:r>
          </a:p>
          <a:p>
            <a:pPr algn="l">
              <a:lnSpc>
                <a:spcPts val="2070"/>
              </a:lnSpc>
            </a:pPr>
            <a:endParaRPr lang="en-US" sz="1800" b="1">
              <a:solidFill>
                <a:srgbClr val="000000"/>
              </a:solidFill>
              <a:latin typeface="Saira Bold"/>
              <a:ea typeface="Saira Bold"/>
              <a:cs typeface="Saira Bold"/>
              <a:sym typeface="Saira Bold"/>
            </a:endParaRPr>
          </a:p>
          <a:p>
            <a:pPr algn="l">
              <a:lnSpc>
                <a:spcPts val="2070"/>
              </a:lnSpc>
            </a:pPr>
            <a:r>
              <a:rPr lang="en-US" sz="1800">
                <a:solidFill>
                  <a:srgbClr val="000000"/>
                </a:solidFill>
                <a:latin typeface="Saira"/>
                <a:ea typeface="Saira"/>
                <a:cs typeface="Saira"/>
                <a:sym typeface="Saira"/>
              </a:rPr>
              <a:t>Idea: Guide the model to reason over the premise and hypothesis in a structured manner.</a:t>
            </a:r>
          </a:p>
          <a:p>
            <a:pPr algn="l">
              <a:lnSpc>
                <a:spcPts val="2070"/>
              </a:lnSpc>
            </a:pPr>
            <a:endParaRPr lang="en-US" sz="1800">
              <a:solidFill>
                <a:srgbClr val="000000"/>
              </a:solidFill>
              <a:latin typeface="Saira"/>
              <a:ea typeface="Saira"/>
              <a:cs typeface="Saira"/>
              <a:sym typeface="Saira"/>
            </a:endParaRPr>
          </a:p>
          <a:p>
            <a:pPr algn="l">
              <a:lnSpc>
                <a:spcPts val="2070"/>
              </a:lnSpc>
            </a:pPr>
            <a:r>
              <a:rPr lang="en-US" sz="1800">
                <a:solidFill>
                  <a:srgbClr val="000000"/>
                </a:solidFill>
                <a:latin typeface="Saira"/>
                <a:ea typeface="Saira"/>
                <a:cs typeface="Saira"/>
                <a:sym typeface="Saira"/>
              </a:rPr>
              <a:t>Implementation: BERT-large was provided with an input prompt designed to encourage the model to “think step by step” about the semantic relationship.</a:t>
            </a:r>
          </a:p>
          <a:p>
            <a:pPr algn="l">
              <a:lnSpc>
                <a:spcPts val="2070"/>
              </a:lnSpc>
            </a:pPr>
            <a:endParaRPr lang="en-US" sz="1800">
              <a:solidFill>
                <a:srgbClr val="000000"/>
              </a:solidFill>
              <a:latin typeface="Saira"/>
              <a:ea typeface="Saira"/>
              <a:cs typeface="Saira"/>
              <a:sym typeface="Saira"/>
            </a:endParaRPr>
          </a:p>
          <a:p>
            <a:pPr algn="l">
              <a:lnSpc>
                <a:spcPts val="2070"/>
              </a:lnSpc>
            </a:pPr>
            <a:r>
              <a:rPr lang="en-US" sz="1800">
                <a:solidFill>
                  <a:srgbClr val="000000"/>
                </a:solidFill>
                <a:latin typeface="Saira"/>
                <a:ea typeface="Saira"/>
                <a:cs typeface="Saira"/>
                <a:sym typeface="Saira"/>
              </a:rPr>
              <a:t>Goal:</a:t>
            </a:r>
          </a:p>
          <a:p>
            <a:pPr algn="l">
              <a:lnSpc>
                <a:spcPts val="2070"/>
              </a:lnSpc>
            </a:pPr>
            <a:endParaRPr lang="en-US" sz="1800">
              <a:solidFill>
                <a:srgbClr val="000000"/>
              </a:solidFill>
              <a:latin typeface="Saira"/>
              <a:ea typeface="Saira"/>
              <a:cs typeface="Saira"/>
              <a:sym typeface="Saira"/>
            </a:endParaRPr>
          </a:p>
          <a:p>
            <a:pPr marL="388620" lvl="1" indent="-194310" algn="l">
              <a:lnSpc>
                <a:spcPts val="2070"/>
              </a:lnSpc>
              <a:buFont typeface="Arial"/>
              <a:buChar char="•"/>
            </a:pPr>
            <a:r>
              <a:rPr lang="en-US" sz="1800">
                <a:solidFill>
                  <a:srgbClr val="000000"/>
                </a:solidFill>
                <a:latin typeface="Saira"/>
                <a:ea typeface="Saira"/>
                <a:cs typeface="Saira"/>
                <a:sym typeface="Saira"/>
              </a:rPr>
              <a:t>Reduce ambiguity in semantically tricky examples.</a:t>
            </a:r>
          </a:p>
          <a:p>
            <a:pPr algn="l">
              <a:lnSpc>
                <a:spcPts val="2070"/>
              </a:lnSpc>
            </a:pPr>
            <a:endParaRPr lang="en-US" sz="1800">
              <a:solidFill>
                <a:srgbClr val="000000"/>
              </a:solidFill>
              <a:latin typeface="Saira"/>
              <a:ea typeface="Saira"/>
              <a:cs typeface="Saira"/>
              <a:sym typeface="Saira"/>
            </a:endParaRPr>
          </a:p>
          <a:p>
            <a:pPr marL="388620" lvl="1" indent="-194310" algn="l">
              <a:lnSpc>
                <a:spcPts val="2070"/>
              </a:lnSpc>
              <a:buFont typeface="Arial"/>
              <a:buChar char="•"/>
            </a:pPr>
            <a:r>
              <a:rPr lang="en-US" sz="1800">
                <a:solidFill>
                  <a:srgbClr val="000000"/>
                </a:solidFill>
                <a:latin typeface="Saira"/>
                <a:ea typeface="Saira"/>
                <a:cs typeface="Saira"/>
                <a:sym typeface="Saira"/>
              </a:rPr>
              <a:t>Encourage the model to leverage intermediate reasoning steps instead of relying solely on memorized patterns.</a:t>
            </a:r>
          </a:p>
          <a:p>
            <a:pPr algn="l">
              <a:lnSpc>
                <a:spcPts val="2070"/>
              </a:lnSpc>
            </a:pPr>
            <a:endParaRPr lang="en-US" sz="1800">
              <a:solidFill>
                <a:srgbClr val="000000"/>
              </a:solidFill>
              <a:latin typeface="Saira"/>
              <a:ea typeface="Saira"/>
              <a:cs typeface="Saira"/>
              <a:sym typeface="Sair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6398292-4E6F-B791-EB8B-32C57610A649}"/>
              </a:ext>
            </a:extLst>
          </p:cNvPr>
          <p:cNvPicPr>
            <a:picLocks noChangeAspect="1"/>
          </p:cNvPicPr>
          <p:nvPr/>
        </p:nvPicPr>
        <p:blipFill>
          <a:blip r:embed="rId2"/>
          <a:stretch>
            <a:fillRect/>
          </a:stretch>
        </p:blipFill>
        <p:spPr>
          <a:xfrm>
            <a:off x="800100" y="165845"/>
            <a:ext cx="16687799" cy="9955310"/>
          </a:xfrm>
          <a:prstGeom prst="rect">
            <a:avLst/>
          </a:prstGeom>
          <a:ln w="50800">
            <a:solidFill>
              <a:schemeClr val="tx1"/>
            </a:solid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021959" y="7558163"/>
            <a:ext cx="2466842" cy="2221052"/>
          </a:xfrm>
          <a:custGeom>
            <a:avLst/>
            <a:gdLst/>
            <a:ahLst/>
            <a:cxnLst/>
            <a:rect l="l" t="t" r="r" b="b"/>
            <a:pathLst>
              <a:path w="2466842" h="2221052">
                <a:moveTo>
                  <a:pt x="0" y="0"/>
                </a:moveTo>
                <a:lnTo>
                  <a:pt x="2466842" y="0"/>
                </a:lnTo>
                <a:lnTo>
                  <a:pt x="2466842" y="2221052"/>
                </a:lnTo>
                <a:lnTo>
                  <a:pt x="0" y="22210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1660799" y="2424740"/>
            <a:ext cx="14222761" cy="6496050"/>
          </a:xfrm>
          <a:prstGeom prst="rect">
            <a:avLst/>
          </a:prstGeom>
        </p:spPr>
        <p:txBody>
          <a:bodyPr lIns="0" tIns="0" rIns="0" bIns="0" rtlCol="0" anchor="t">
            <a:spAutoFit/>
          </a:bodyPr>
          <a:lstStyle/>
          <a:p>
            <a:pPr algn="l">
              <a:lnSpc>
                <a:spcPts val="3000"/>
              </a:lnSpc>
            </a:pPr>
            <a:endParaRPr dirty="0"/>
          </a:p>
          <a:p>
            <a:pPr marL="647700" lvl="1" indent="-323850" algn="l">
              <a:lnSpc>
                <a:spcPts val="3000"/>
              </a:lnSpc>
              <a:buFont typeface="Arial"/>
              <a:buChar char="•"/>
            </a:pPr>
            <a:r>
              <a:rPr lang="en-US" sz="3000" dirty="0">
                <a:solidFill>
                  <a:srgbClr val="000000"/>
                </a:solidFill>
                <a:latin typeface="Saira"/>
                <a:ea typeface="Saira"/>
                <a:cs typeface="Saira"/>
                <a:sym typeface="Saira"/>
              </a:rPr>
              <a:t>Fine-tuning BERT models yielded substantial improvement over the baseline (</a:t>
            </a:r>
            <a:r>
              <a:rPr lang="en-US" sz="3000" dirty="0" err="1">
                <a:solidFill>
                  <a:srgbClr val="000000"/>
                </a:solidFill>
                <a:latin typeface="Saira"/>
                <a:ea typeface="Saira"/>
                <a:cs typeface="Saira"/>
                <a:sym typeface="Saira"/>
              </a:rPr>
              <a:t>DistilRoBERTa</a:t>
            </a:r>
            <a:r>
              <a:rPr lang="en-US" sz="3000" dirty="0">
                <a:solidFill>
                  <a:srgbClr val="000000"/>
                </a:solidFill>
                <a:latin typeface="Saira"/>
                <a:ea typeface="Saira"/>
                <a:cs typeface="Saira"/>
                <a:sym typeface="Saira"/>
              </a:rPr>
              <a:t>: 33.7% acc, 0.242 F1 → BERT-large: 44.7% acc, 0.443 F1).</a:t>
            </a:r>
          </a:p>
          <a:p>
            <a:pPr algn="l">
              <a:lnSpc>
                <a:spcPts val="3000"/>
              </a:lnSpc>
            </a:pPr>
            <a:endParaRPr lang="en-US" sz="3000" dirty="0">
              <a:solidFill>
                <a:srgbClr val="000000"/>
              </a:solidFill>
              <a:latin typeface="Saira"/>
              <a:ea typeface="Saira"/>
              <a:cs typeface="Saira"/>
              <a:sym typeface="Saira"/>
            </a:endParaRPr>
          </a:p>
          <a:p>
            <a:pPr marL="647700" lvl="1" indent="-323850" algn="l">
              <a:lnSpc>
                <a:spcPts val="3000"/>
              </a:lnSpc>
              <a:buFont typeface="Arial"/>
              <a:buChar char="•"/>
            </a:pPr>
            <a:r>
              <a:rPr lang="en-US" sz="3000" dirty="0">
                <a:solidFill>
                  <a:srgbClr val="000000"/>
                </a:solidFill>
                <a:latin typeface="Saira"/>
                <a:ea typeface="Saira"/>
                <a:cs typeface="Saira"/>
                <a:sym typeface="Saira"/>
              </a:rPr>
              <a:t>Larger models captured deeper semantic relationships, resulting in consistent accuracy and F1 score gains.</a:t>
            </a:r>
          </a:p>
          <a:p>
            <a:pPr algn="l">
              <a:lnSpc>
                <a:spcPts val="3000"/>
              </a:lnSpc>
            </a:pPr>
            <a:endParaRPr lang="en-US" sz="3000" dirty="0">
              <a:solidFill>
                <a:srgbClr val="000000"/>
              </a:solidFill>
              <a:latin typeface="Saira"/>
              <a:ea typeface="Saira"/>
              <a:cs typeface="Saira"/>
              <a:sym typeface="Saira"/>
            </a:endParaRPr>
          </a:p>
          <a:p>
            <a:pPr marL="647700" lvl="1" indent="-323850" algn="l">
              <a:lnSpc>
                <a:spcPts val="3000"/>
              </a:lnSpc>
              <a:buFont typeface="Arial"/>
              <a:buChar char="•"/>
            </a:pPr>
            <a:r>
              <a:rPr lang="en-US" sz="3000" dirty="0">
                <a:solidFill>
                  <a:srgbClr val="000000"/>
                </a:solidFill>
                <a:latin typeface="Saira"/>
                <a:ea typeface="Saira"/>
                <a:cs typeface="Saira"/>
                <a:sym typeface="Saira"/>
              </a:rPr>
              <a:t>Prompt-based fine-tuning (BERT-large + Prompt: 45.4% acc, 0.450 F1) showed a small improvement, but analysis revealed the model mostly ignored the prompt, with gains attributed to optimization factors like learning rate scheduling and gradient accumulation.</a:t>
            </a:r>
          </a:p>
          <a:p>
            <a:pPr algn="l">
              <a:lnSpc>
                <a:spcPts val="3000"/>
              </a:lnSpc>
            </a:pPr>
            <a:endParaRPr lang="en-US" sz="3000" dirty="0">
              <a:solidFill>
                <a:srgbClr val="000000"/>
              </a:solidFill>
              <a:latin typeface="Saira"/>
              <a:ea typeface="Saira"/>
              <a:cs typeface="Saira"/>
              <a:sym typeface="Saira"/>
            </a:endParaRPr>
          </a:p>
          <a:p>
            <a:pPr marL="647700" lvl="1" indent="-323850" algn="l">
              <a:lnSpc>
                <a:spcPts val="3000"/>
              </a:lnSpc>
              <a:buFont typeface="Arial"/>
              <a:buChar char="•"/>
            </a:pPr>
            <a:r>
              <a:rPr lang="en-US" sz="3000" dirty="0">
                <a:solidFill>
                  <a:srgbClr val="000000"/>
                </a:solidFill>
                <a:latin typeface="Saira"/>
                <a:ea typeface="Saira"/>
                <a:cs typeface="Saira"/>
                <a:sym typeface="Saira"/>
              </a:rPr>
              <a:t>Improvements were achieved through careful training strategies — FP16 mixed precision, gradient clipping, and early stopping.</a:t>
            </a:r>
          </a:p>
          <a:p>
            <a:pPr algn="l">
              <a:lnSpc>
                <a:spcPts val="3000"/>
              </a:lnSpc>
            </a:pPr>
            <a:endParaRPr lang="en-US" sz="3000" dirty="0">
              <a:solidFill>
                <a:srgbClr val="000000"/>
              </a:solidFill>
              <a:latin typeface="Saira"/>
              <a:ea typeface="Saira"/>
              <a:cs typeface="Saira"/>
              <a:sym typeface="Saira"/>
            </a:endParaRPr>
          </a:p>
          <a:p>
            <a:pPr marL="647700" lvl="1" indent="-323850" algn="l">
              <a:lnSpc>
                <a:spcPts val="3000"/>
              </a:lnSpc>
              <a:buFont typeface="Arial"/>
              <a:buChar char="•"/>
            </a:pPr>
            <a:r>
              <a:rPr lang="en-US" sz="3000" dirty="0">
                <a:solidFill>
                  <a:srgbClr val="000000"/>
                </a:solidFill>
                <a:latin typeface="Saira"/>
                <a:ea typeface="Saira"/>
                <a:cs typeface="Saira"/>
                <a:sym typeface="Saira"/>
              </a:rPr>
              <a:t>Reproducibility (seeds, checkpoints) was key to achieving stable and comparable performance across experiments.</a:t>
            </a:r>
          </a:p>
        </p:txBody>
      </p:sp>
      <p:sp>
        <p:nvSpPr>
          <p:cNvPr id="4" name="TextBox 4"/>
          <p:cNvSpPr txBox="1"/>
          <p:nvPr/>
        </p:nvSpPr>
        <p:spPr>
          <a:xfrm>
            <a:off x="1028700" y="898780"/>
            <a:ext cx="5448300" cy="1116848"/>
          </a:xfrm>
          <a:prstGeom prst="rect">
            <a:avLst/>
          </a:prstGeom>
        </p:spPr>
        <p:txBody>
          <a:bodyPr wrap="square" lIns="0" tIns="0" rIns="0" bIns="0" rtlCol="0" anchor="t">
            <a:spAutoFit/>
          </a:bodyPr>
          <a:lstStyle/>
          <a:p>
            <a:pPr algn="ctr">
              <a:lnSpc>
                <a:spcPts val="8345"/>
              </a:lnSpc>
              <a:spcBef>
                <a:spcPct val="0"/>
              </a:spcBef>
            </a:pPr>
            <a:r>
              <a:rPr lang="en-US" sz="8345" b="1" dirty="0">
                <a:solidFill>
                  <a:srgbClr val="000000"/>
                </a:solidFill>
                <a:latin typeface="Saira Bold"/>
                <a:ea typeface="Saira Bold"/>
                <a:cs typeface="Saira Bold"/>
                <a:sym typeface="Saira Bold"/>
              </a:rPr>
              <a:t>INSIGHTS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319F7738-A664-87B1-238B-D90751E84571}"/>
              </a:ext>
            </a:extLst>
          </p:cNvPr>
          <p:cNvSpPr/>
          <p:nvPr/>
        </p:nvSpPr>
        <p:spPr>
          <a:xfrm>
            <a:off x="15287758" y="222974"/>
            <a:ext cx="2466842" cy="2221052"/>
          </a:xfrm>
          <a:custGeom>
            <a:avLst/>
            <a:gdLst/>
            <a:ahLst/>
            <a:cxnLst/>
            <a:rect l="l" t="t" r="r" b="b"/>
            <a:pathLst>
              <a:path w="2466842" h="2221052">
                <a:moveTo>
                  <a:pt x="0" y="0"/>
                </a:moveTo>
                <a:lnTo>
                  <a:pt x="2466842" y="0"/>
                </a:lnTo>
                <a:lnTo>
                  <a:pt x="2466842" y="2221052"/>
                </a:lnTo>
                <a:lnTo>
                  <a:pt x="0" y="22210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3" name="TextBox 3">
            <a:extLst>
              <a:ext uri="{FF2B5EF4-FFF2-40B4-BE49-F238E27FC236}">
                <a16:creationId xmlns:a16="http://schemas.microsoft.com/office/drawing/2014/main" id="{2E592D2D-B8EF-DD91-ABD8-5AB73B51B2F2}"/>
              </a:ext>
            </a:extLst>
          </p:cNvPr>
          <p:cNvSpPr txBox="1"/>
          <p:nvPr/>
        </p:nvSpPr>
        <p:spPr>
          <a:xfrm>
            <a:off x="533400" y="1333500"/>
            <a:ext cx="15849600" cy="8098371"/>
          </a:xfrm>
          <a:prstGeom prst="rect">
            <a:avLst/>
          </a:prstGeom>
        </p:spPr>
        <p:txBody>
          <a:bodyPr wrap="square" lIns="0" tIns="0" rIns="0" bIns="0" rtlCol="0" anchor="t">
            <a:spAutoFit/>
          </a:bodyPr>
          <a:lstStyle/>
          <a:p>
            <a:pPr>
              <a:lnSpc>
                <a:spcPts val="3000"/>
              </a:lnSpc>
            </a:pPr>
            <a:r>
              <a:rPr lang="en-US" sz="3000" dirty="0"/>
              <a:t>Why </a:t>
            </a:r>
            <a:r>
              <a:rPr lang="en-US" sz="3000" dirty="0" err="1"/>
              <a:t>DeBERTa</a:t>
            </a:r>
            <a:r>
              <a:rPr lang="en-US" sz="3000" dirty="0"/>
              <a:t> Excels (+16.4% over BERT-large): </a:t>
            </a:r>
          </a:p>
          <a:p>
            <a:pPr>
              <a:lnSpc>
                <a:spcPts val="3000"/>
              </a:lnSpc>
            </a:pPr>
            <a:endParaRPr lang="en-US" sz="3000" dirty="0"/>
          </a:p>
          <a:p>
            <a:pPr>
              <a:lnSpc>
                <a:spcPts val="3000"/>
              </a:lnSpc>
            </a:pPr>
            <a:r>
              <a:rPr lang="en-US" sz="3000" dirty="0"/>
              <a:t>Architecture Innovations: </a:t>
            </a:r>
          </a:p>
          <a:p>
            <a:pPr>
              <a:lnSpc>
                <a:spcPts val="3000"/>
              </a:lnSpc>
            </a:pPr>
            <a:r>
              <a:rPr lang="en-US" sz="3000" dirty="0"/>
              <a:t>✓ Disentangled Attention: Separates content &amp; position embeddings for better contextual understanding </a:t>
            </a:r>
          </a:p>
          <a:p>
            <a:pPr>
              <a:lnSpc>
                <a:spcPts val="3000"/>
              </a:lnSpc>
            </a:pPr>
            <a:r>
              <a:rPr lang="en-US" sz="3000" dirty="0"/>
              <a:t>✓ Enhanced Mask Decoder: Improved pre-training objective (Replaced Token Detection vs Masked Language Modeling) </a:t>
            </a:r>
          </a:p>
          <a:p>
            <a:pPr>
              <a:lnSpc>
                <a:spcPts val="3000"/>
              </a:lnSpc>
            </a:pPr>
            <a:r>
              <a:rPr lang="en-US" sz="3000" dirty="0"/>
              <a:t>✓ Designed for Adversarial Robustness: Specifically handles BERT-fooling patterns that plague simpler architectures </a:t>
            </a:r>
          </a:p>
          <a:p>
            <a:pPr>
              <a:lnSpc>
                <a:spcPts val="3000"/>
              </a:lnSpc>
            </a:pPr>
            <a:endParaRPr lang="en-US" sz="3000" dirty="0"/>
          </a:p>
          <a:p>
            <a:pPr>
              <a:lnSpc>
                <a:spcPts val="3000"/>
              </a:lnSpc>
            </a:pPr>
            <a:r>
              <a:rPr lang="en-US" sz="3000" dirty="0"/>
              <a:t>Balanced Performance Across All Classes: </a:t>
            </a:r>
          </a:p>
          <a:p>
            <a:pPr>
              <a:lnSpc>
                <a:spcPts val="3000"/>
              </a:lnSpc>
            </a:pPr>
            <a:r>
              <a:rPr lang="en-US" sz="3000" dirty="0"/>
              <a:t>━━━━━━━━━━━━━━━━━━━━━━━</a:t>
            </a:r>
          </a:p>
          <a:p>
            <a:pPr>
              <a:lnSpc>
                <a:spcPts val="3000"/>
              </a:lnSpc>
            </a:pPr>
            <a:r>
              <a:rPr lang="en-US" sz="3000" dirty="0"/>
              <a:t>Class                   Precision         Recall         F1-Score ━━━━━━━━━━━━━━━━━━━━━━━</a:t>
            </a:r>
          </a:p>
          <a:p>
            <a:pPr>
              <a:lnSpc>
                <a:spcPts val="3000"/>
              </a:lnSpc>
            </a:pPr>
            <a:r>
              <a:rPr lang="en-US" sz="3000" dirty="0"/>
              <a:t>Entailment           0.6201         0.6647          0.6416 </a:t>
            </a:r>
          </a:p>
          <a:p>
            <a:pPr>
              <a:lnSpc>
                <a:spcPts val="3000"/>
              </a:lnSpc>
            </a:pPr>
            <a:r>
              <a:rPr lang="en-US" sz="3000" dirty="0"/>
              <a:t>Neutral                 0.5940         0.5976          0.5958 </a:t>
            </a:r>
          </a:p>
          <a:p>
            <a:pPr>
              <a:lnSpc>
                <a:spcPts val="3000"/>
              </a:lnSpc>
            </a:pPr>
            <a:r>
              <a:rPr lang="en-US" sz="3000" dirty="0"/>
              <a:t>Contradiction      0.6417         0.5916          0.6156 ━━━━━━━━━━━━━━━━━━━━━━━</a:t>
            </a:r>
          </a:p>
          <a:p>
            <a:pPr>
              <a:lnSpc>
                <a:spcPts val="3000"/>
              </a:lnSpc>
            </a:pPr>
            <a:r>
              <a:rPr lang="en-US" sz="3000" dirty="0"/>
              <a:t>✓ Strong Generalization: Test 61.8% &gt; Dev 61.1% </a:t>
            </a:r>
          </a:p>
          <a:p>
            <a:pPr>
              <a:lnSpc>
                <a:spcPts val="3000"/>
              </a:lnSpc>
            </a:pPr>
            <a:r>
              <a:rPr lang="en-US" sz="3000" dirty="0"/>
              <a:t>✓ No class bias despite 46.1% neutral training data </a:t>
            </a:r>
          </a:p>
          <a:p>
            <a:pPr>
              <a:lnSpc>
                <a:spcPts val="3000"/>
              </a:lnSpc>
            </a:pPr>
            <a:r>
              <a:rPr lang="en-US" sz="3000" dirty="0"/>
              <a:t>✓ Successfully overcame BERT's adversarial limitations</a:t>
            </a:r>
            <a:endParaRPr lang="en-US" sz="3000" dirty="0">
              <a:solidFill>
                <a:srgbClr val="000000"/>
              </a:solidFill>
              <a:latin typeface="Saira"/>
              <a:ea typeface="Saira"/>
              <a:cs typeface="Saira"/>
              <a:sym typeface="Saira"/>
            </a:endParaRPr>
          </a:p>
        </p:txBody>
      </p:sp>
      <p:sp>
        <p:nvSpPr>
          <p:cNvPr id="8" name="TextBox 7">
            <a:extLst>
              <a:ext uri="{FF2B5EF4-FFF2-40B4-BE49-F238E27FC236}">
                <a16:creationId xmlns:a16="http://schemas.microsoft.com/office/drawing/2014/main" id="{555CC40F-A7D0-CC70-C574-547E18517804}"/>
              </a:ext>
            </a:extLst>
          </p:cNvPr>
          <p:cNvSpPr txBox="1"/>
          <p:nvPr/>
        </p:nvSpPr>
        <p:spPr>
          <a:xfrm>
            <a:off x="304800" y="419100"/>
            <a:ext cx="12641355" cy="707886"/>
          </a:xfrm>
          <a:prstGeom prst="rect">
            <a:avLst/>
          </a:prstGeom>
          <a:noFill/>
        </p:spPr>
        <p:txBody>
          <a:bodyPr wrap="square">
            <a:spAutoFit/>
          </a:bodyPr>
          <a:lstStyle/>
          <a:p>
            <a:r>
              <a:rPr lang="en-US" sz="4000" dirty="0"/>
              <a:t>DeBERTa-v3-Large: The Breakthrough (61.8% Accuracy)</a:t>
            </a:r>
          </a:p>
        </p:txBody>
      </p:sp>
      <p:pic>
        <p:nvPicPr>
          <p:cNvPr id="12" name="Picture 11">
            <a:extLst>
              <a:ext uri="{FF2B5EF4-FFF2-40B4-BE49-F238E27FC236}">
                <a16:creationId xmlns:a16="http://schemas.microsoft.com/office/drawing/2014/main" id="{96D45B97-E39C-545E-D2C0-F1696A41C18D}"/>
              </a:ext>
            </a:extLst>
          </p:cNvPr>
          <p:cNvPicPr>
            <a:picLocks noChangeAspect="1"/>
          </p:cNvPicPr>
          <p:nvPr/>
        </p:nvPicPr>
        <p:blipFill>
          <a:blip r:embed="rId4"/>
          <a:stretch>
            <a:fillRect/>
          </a:stretch>
        </p:blipFill>
        <p:spPr>
          <a:xfrm>
            <a:off x="10128117" y="5006487"/>
            <a:ext cx="5636075" cy="4829175"/>
          </a:xfrm>
          <a:prstGeom prst="rect">
            <a:avLst/>
          </a:prstGeom>
        </p:spPr>
      </p:pic>
    </p:spTree>
    <p:extLst>
      <p:ext uri="{BB962C8B-B14F-4D97-AF65-F5344CB8AC3E}">
        <p14:creationId xmlns:p14="http://schemas.microsoft.com/office/powerpoint/2010/main" val="8932020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1053496" y="467198"/>
            <a:ext cx="16649700" cy="942502"/>
          </a:xfrm>
          <a:prstGeom prst="rect">
            <a:avLst/>
          </a:prstGeom>
        </p:spPr>
        <p:txBody>
          <a:bodyPr wrap="square" lIns="0" tIns="0" rIns="0" bIns="0" rtlCol="0" anchor="t">
            <a:spAutoFit/>
          </a:bodyPr>
          <a:lstStyle/>
          <a:p>
            <a:pPr algn="ctr">
              <a:lnSpc>
                <a:spcPts val="6999"/>
              </a:lnSpc>
              <a:spcBef>
                <a:spcPct val="0"/>
              </a:spcBef>
            </a:pPr>
            <a:r>
              <a:rPr lang="en-US" sz="6999" b="1" dirty="0">
                <a:solidFill>
                  <a:srgbClr val="000000"/>
                </a:solidFill>
                <a:latin typeface="Saira Bold"/>
                <a:ea typeface="Saira Bold"/>
                <a:cs typeface="Saira Bold"/>
                <a:sym typeface="Saira Bold"/>
              </a:rPr>
              <a:t>COMPARISION OF ALL MODELS</a:t>
            </a:r>
          </a:p>
        </p:txBody>
      </p:sp>
      <p:sp>
        <p:nvSpPr>
          <p:cNvPr id="4" name="TextBox 4"/>
          <p:cNvSpPr txBox="1"/>
          <p:nvPr/>
        </p:nvSpPr>
        <p:spPr>
          <a:xfrm>
            <a:off x="1676400" y="7658100"/>
            <a:ext cx="15818152" cy="1950534"/>
          </a:xfrm>
          <a:prstGeom prst="rect">
            <a:avLst/>
          </a:prstGeom>
        </p:spPr>
        <p:txBody>
          <a:bodyPr wrap="square" lIns="0" tIns="0" rIns="0" bIns="0" rtlCol="0" anchor="t">
            <a:spAutoFit/>
          </a:bodyPr>
          <a:lstStyle/>
          <a:p>
            <a:pPr>
              <a:lnSpc>
                <a:spcPts val="3000"/>
              </a:lnSpc>
              <a:spcBef>
                <a:spcPct val="0"/>
              </a:spcBef>
            </a:pPr>
            <a:r>
              <a:rPr lang="en-US" sz="3200" dirty="0"/>
              <a:t>This comparison highlights the dataset's adversarial nature. Traditional ML models (</a:t>
            </a:r>
            <a:r>
              <a:rPr lang="en-US" sz="3200" dirty="0" err="1"/>
              <a:t>XGBoost</a:t>
            </a:r>
            <a:r>
              <a:rPr lang="en-US" sz="3200" dirty="0"/>
              <a:t>: 38.7%) and BERT variants (BERT-large: 44.7%) struggled to exceed 45% accuracy. However, DeBERTa-v3-large achieved a breakthrough with 61.8% accuracy through disentangled attention, demonstrating that advanced architectural innovations can significantly improve performance on adversarial examples while confirming ANLI remains a challenging benchmark.</a:t>
            </a:r>
            <a:endParaRPr lang="en-US" sz="3000" dirty="0">
              <a:solidFill>
                <a:srgbClr val="000000"/>
              </a:solidFill>
              <a:latin typeface="Saira"/>
              <a:ea typeface="Saira"/>
              <a:cs typeface="Saira"/>
              <a:sym typeface="Saira"/>
            </a:endParaRPr>
          </a:p>
        </p:txBody>
      </p:sp>
      <p:pic>
        <p:nvPicPr>
          <p:cNvPr id="8" name="Picture 7">
            <a:extLst>
              <a:ext uri="{FF2B5EF4-FFF2-40B4-BE49-F238E27FC236}">
                <a16:creationId xmlns:a16="http://schemas.microsoft.com/office/drawing/2014/main" id="{4D4264D4-58D0-4F33-A091-0B019EC9666A}"/>
              </a:ext>
            </a:extLst>
          </p:cNvPr>
          <p:cNvPicPr>
            <a:picLocks noChangeAspect="1"/>
          </p:cNvPicPr>
          <p:nvPr/>
        </p:nvPicPr>
        <p:blipFill>
          <a:blip r:embed="rId2"/>
          <a:stretch>
            <a:fillRect/>
          </a:stretch>
        </p:blipFill>
        <p:spPr>
          <a:xfrm>
            <a:off x="1676400" y="1409700"/>
            <a:ext cx="15818152" cy="5850959"/>
          </a:xfrm>
          <a:prstGeom prst="rect">
            <a:avLst/>
          </a:prstGeom>
          <a:ln w="50800">
            <a:solidFill>
              <a:schemeClr val="tx1"/>
            </a:solid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93217" y="305252"/>
            <a:ext cx="2996344" cy="3063177"/>
          </a:xfrm>
          <a:custGeom>
            <a:avLst/>
            <a:gdLst/>
            <a:ahLst/>
            <a:cxnLst/>
            <a:rect l="l" t="t" r="r" b="b"/>
            <a:pathLst>
              <a:path w="2996344" h="3063177">
                <a:moveTo>
                  <a:pt x="0" y="0"/>
                </a:moveTo>
                <a:lnTo>
                  <a:pt x="2996344" y="0"/>
                </a:lnTo>
                <a:lnTo>
                  <a:pt x="2996344" y="3063177"/>
                </a:lnTo>
                <a:lnTo>
                  <a:pt x="0" y="30631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793217" y="3689350"/>
            <a:ext cx="16999022" cy="5668155"/>
          </a:xfrm>
          <a:prstGeom prst="rect">
            <a:avLst/>
          </a:prstGeom>
        </p:spPr>
        <p:txBody>
          <a:bodyPr lIns="0" tIns="0" rIns="0" bIns="0" rtlCol="0" anchor="t">
            <a:spAutoFit/>
          </a:bodyPr>
          <a:lstStyle/>
          <a:p>
            <a:pPr algn="just">
              <a:lnSpc>
                <a:spcPts val="3999"/>
              </a:lnSpc>
              <a:spcBef>
                <a:spcPct val="0"/>
              </a:spcBef>
            </a:pPr>
            <a:r>
              <a:rPr lang="en-US" sz="3999" dirty="0">
                <a:solidFill>
                  <a:srgbClr val="000000"/>
                </a:solidFill>
                <a:latin typeface="Saira"/>
                <a:ea typeface="Saira"/>
                <a:cs typeface="Saira"/>
                <a:sym typeface="Saira"/>
              </a:rPr>
              <a:t>This project demonstrated the challenges of Natural Language Inference </a:t>
            </a:r>
          </a:p>
          <a:p>
            <a:pPr algn="just">
              <a:lnSpc>
                <a:spcPts val="3999"/>
              </a:lnSpc>
              <a:spcBef>
                <a:spcPct val="0"/>
              </a:spcBef>
            </a:pPr>
            <a:r>
              <a:rPr lang="en-US" sz="3999" dirty="0">
                <a:solidFill>
                  <a:srgbClr val="000000"/>
                </a:solidFill>
                <a:latin typeface="Saira"/>
                <a:ea typeface="Saira"/>
                <a:cs typeface="Saira"/>
                <a:sym typeface="Saira"/>
              </a:rPr>
              <a:t>on the ANLI dataset, where traditional ML and BERT models struggled  on adversarial examples. While BERT variants plateaued at ~45%,  DeBERTa-v3-large achieved a breakthrough with 61.8% accuracy through disentangled attention architecture. Despite this 28.1 percentage point improvement over baseline, the results underscore ANLI's adversarial complexity and remaining challenges in numerical reasoning and NEUTRAL , ENTAILMENT boundaries. The progression from classical baselines (38.7%) to BERT (45.4%) to </a:t>
            </a:r>
            <a:r>
              <a:rPr lang="en-US" sz="3999" dirty="0" err="1">
                <a:solidFill>
                  <a:srgbClr val="000000"/>
                </a:solidFill>
                <a:latin typeface="Saira"/>
                <a:ea typeface="Saira"/>
                <a:cs typeface="Saira"/>
                <a:sym typeface="Saira"/>
              </a:rPr>
              <a:t>DeBERTa</a:t>
            </a:r>
            <a:r>
              <a:rPr lang="en-US" sz="3999" dirty="0">
                <a:solidFill>
                  <a:srgbClr val="000000"/>
                </a:solidFill>
                <a:latin typeface="Saira"/>
                <a:ea typeface="Saira"/>
                <a:cs typeface="Saira"/>
                <a:sym typeface="Saira"/>
              </a:rPr>
              <a:t> (61.8%) highlights that advanced architectures with enhanced contextual modeling are essential for adversarial NLI tasks.</a:t>
            </a:r>
          </a:p>
        </p:txBody>
      </p:sp>
      <p:sp>
        <p:nvSpPr>
          <p:cNvPr id="4" name="TextBox 4"/>
          <p:cNvSpPr txBox="1"/>
          <p:nvPr/>
        </p:nvSpPr>
        <p:spPr>
          <a:xfrm>
            <a:off x="4040451" y="1577709"/>
            <a:ext cx="6786347" cy="1116848"/>
          </a:xfrm>
          <a:prstGeom prst="rect">
            <a:avLst/>
          </a:prstGeom>
        </p:spPr>
        <p:txBody>
          <a:bodyPr lIns="0" tIns="0" rIns="0" bIns="0" rtlCol="0" anchor="t">
            <a:spAutoFit/>
          </a:bodyPr>
          <a:lstStyle/>
          <a:p>
            <a:pPr algn="ctr">
              <a:lnSpc>
                <a:spcPts val="8345"/>
              </a:lnSpc>
              <a:spcBef>
                <a:spcPct val="0"/>
              </a:spcBef>
            </a:pPr>
            <a:r>
              <a:rPr lang="en-US" sz="8345" b="1">
                <a:solidFill>
                  <a:srgbClr val="000000"/>
                </a:solidFill>
                <a:latin typeface="Saira Bold"/>
                <a:ea typeface="Saira Bold"/>
                <a:cs typeface="Saira Bold"/>
                <a:sym typeface="Saira Bold"/>
              </a:rPr>
              <a:t>CONCLUSION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83905" y="3968566"/>
            <a:ext cx="3785616" cy="4114800"/>
          </a:xfrm>
          <a:custGeom>
            <a:avLst/>
            <a:gdLst/>
            <a:ahLst/>
            <a:cxnLst/>
            <a:rect l="l" t="t" r="r" b="b"/>
            <a:pathLst>
              <a:path w="3785616" h="4114800">
                <a:moveTo>
                  <a:pt x="0" y="0"/>
                </a:moveTo>
                <a:lnTo>
                  <a:pt x="3785616" y="0"/>
                </a:lnTo>
                <a:lnTo>
                  <a:pt x="3785616"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1177428" y="707859"/>
            <a:ext cx="16230600" cy="1816100"/>
          </a:xfrm>
          <a:prstGeom prst="rect">
            <a:avLst/>
          </a:prstGeom>
        </p:spPr>
        <p:txBody>
          <a:bodyPr lIns="0" tIns="0" rIns="0" bIns="0" rtlCol="0" anchor="t">
            <a:spAutoFit/>
          </a:bodyPr>
          <a:lstStyle/>
          <a:p>
            <a:pPr algn="ctr">
              <a:lnSpc>
                <a:spcPts val="6999"/>
              </a:lnSpc>
              <a:spcBef>
                <a:spcPct val="0"/>
              </a:spcBef>
            </a:pPr>
            <a:r>
              <a:rPr lang="en-US" sz="6999" b="1">
                <a:solidFill>
                  <a:srgbClr val="000000"/>
                </a:solidFill>
                <a:latin typeface="Saira Bold"/>
                <a:ea typeface="Saira Bold"/>
                <a:cs typeface="Saira Bold"/>
                <a:sym typeface="Saira Bold"/>
              </a:rPr>
              <a:t>ALTERNATIVE APPROACH AND RATIONALE FOR EXCLUSION</a:t>
            </a:r>
          </a:p>
        </p:txBody>
      </p:sp>
      <p:sp>
        <p:nvSpPr>
          <p:cNvPr id="4" name="TextBox 4"/>
          <p:cNvSpPr txBox="1"/>
          <p:nvPr/>
        </p:nvSpPr>
        <p:spPr>
          <a:xfrm>
            <a:off x="4499034" y="3184525"/>
            <a:ext cx="12611538" cy="6073775"/>
          </a:xfrm>
          <a:prstGeom prst="rect">
            <a:avLst/>
          </a:prstGeom>
        </p:spPr>
        <p:txBody>
          <a:bodyPr lIns="0" tIns="0" rIns="0" bIns="0" rtlCol="0" anchor="t">
            <a:spAutoFit/>
          </a:bodyPr>
          <a:lstStyle/>
          <a:p>
            <a:pPr algn="just">
              <a:lnSpc>
                <a:spcPts val="3999"/>
              </a:lnSpc>
              <a:spcBef>
                <a:spcPct val="0"/>
              </a:spcBef>
            </a:pPr>
            <a:r>
              <a:rPr lang="en-US" sz="3999" dirty="0">
                <a:solidFill>
                  <a:srgbClr val="000000"/>
                </a:solidFill>
                <a:latin typeface="Saira"/>
                <a:ea typeface="Saira"/>
                <a:cs typeface="Saira"/>
                <a:sym typeface="Saira"/>
              </a:rPr>
              <a:t>An additional idea is to train classical models on vector embeddings extracted from a fine-tuned BERT model. However, this approach is unlikely to yield strong results because classical algorithms cannot fully exploit the contextual and semantic richness encoded in BERT embeddings. Such models would treat the embeddings as static numerical features, losing the deep relational understanding between premise and hypothesis. Therefore, fine-tuning transformer-based models end-to-end remains the most effective direction for improving performance on this task.</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F399F-BDE7-7C46-3058-544397BD8EB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371CC2A-A14E-D1D4-81D2-4997B29297DA}"/>
              </a:ext>
            </a:extLst>
          </p:cNvPr>
          <p:cNvSpPr/>
          <p:nvPr/>
        </p:nvSpPr>
        <p:spPr>
          <a:xfrm>
            <a:off x="1219200" y="432391"/>
            <a:ext cx="2632303" cy="2648437"/>
          </a:xfrm>
          <a:custGeom>
            <a:avLst/>
            <a:gdLst/>
            <a:ahLst/>
            <a:cxnLst/>
            <a:rect l="l" t="t" r="r" b="b"/>
            <a:pathLst>
              <a:path w="2996344" h="3063177">
                <a:moveTo>
                  <a:pt x="0" y="0"/>
                </a:moveTo>
                <a:lnTo>
                  <a:pt x="2996344" y="0"/>
                </a:lnTo>
                <a:lnTo>
                  <a:pt x="2996344" y="3063177"/>
                </a:lnTo>
                <a:lnTo>
                  <a:pt x="0" y="30631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a:extLst>
              <a:ext uri="{FF2B5EF4-FFF2-40B4-BE49-F238E27FC236}">
                <a16:creationId xmlns:a16="http://schemas.microsoft.com/office/drawing/2014/main" id="{149896D8-3E22-37EC-7F48-A4240648F3EF}"/>
              </a:ext>
            </a:extLst>
          </p:cNvPr>
          <p:cNvSpPr txBox="1"/>
          <p:nvPr/>
        </p:nvSpPr>
        <p:spPr>
          <a:xfrm>
            <a:off x="2506043" y="3390900"/>
            <a:ext cx="12236983" cy="6181179"/>
          </a:xfrm>
          <a:prstGeom prst="rect">
            <a:avLst/>
          </a:prstGeom>
        </p:spPr>
        <p:txBody>
          <a:bodyPr wrap="square" lIns="0" tIns="0" rIns="0" bIns="0" rtlCol="0" anchor="t">
            <a:spAutoFit/>
          </a:bodyPr>
          <a:lstStyle/>
          <a:p>
            <a:pPr algn="just">
              <a:lnSpc>
                <a:spcPts val="3999"/>
              </a:lnSpc>
              <a:spcBef>
                <a:spcPct val="0"/>
              </a:spcBef>
            </a:pPr>
            <a:r>
              <a:rPr lang="en-US" sz="4000" dirty="0"/>
              <a:t>Curriculum Learning Pipeline </a:t>
            </a:r>
          </a:p>
          <a:p>
            <a:pPr algn="just">
              <a:lnSpc>
                <a:spcPts val="3999"/>
              </a:lnSpc>
              <a:spcBef>
                <a:spcPct val="0"/>
              </a:spcBef>
            </a:pPr>
            <a:endParaRPr lang="en-US" sz="4000" dirty="0"/>
          </a:p>
          <a:p>
            <a:pPr lvl="1" algn="just">
              <a:lnSpc>
                <a:spcPts val="3999"/>
              </a:lnSpc>
              <a:spcBef>
                <a:spcPct val="0"/>
              </a:spcBef>
            </a:pPr>
            <a:r>
              <a:rPr lang="en-US" sz="4000" dirty="0"/>
              <a:t>Strategy: Progressive pre-training on increasingly difficult NLI datasets Progression: SNLI → MNLI → FEVER-NLI → ANLI R2 </a:t>
            </a:r>
          </a:p>
          <a:p>
            <a:pPr lvl="1" algn="just">
              <a:lnSpc>
                <a:spcPts val="3999"/>
              </a:lnSpc>
              <a:spcBef>
                <a:spcPct val="0"/>
              </a:spcBef>
            </a:pPr>
            <a:endParaRPr lang="en-US" sz="4000" dirty="0"/>
          </a:p>
          <a:p>
            <a:pPr lvl="1" algn="just">
              <a:lnSpc>
                <a:spcPts val="3999"/>
              </a:lnSpc>
              <a:spcBef>
                <a:spcPct val="0"/>
              </a:spcBef>
            </a:pPr>
            <a:r>
              <a:rPr lang="en-US" sz="4000" dirty="0"/>
              <a:t>Rationale: Start with simpler examples, gradually expose model to harder adversarial patterns, then fine-tune on ANLI for final robustness </a:t>
            </a:r>
          </a:p>
          <a:p>
            <a:pPr lvl="1" algn="just">
              <a:lnSpc>
                <a:spcPts val="3999"/>
              </a:lnSpc>
              <a:spcBef>
                <a:spcPct val="0"/>
              </a:spcBef>
            </a:pPr>
            <a:endParaRPr lang="en-US" sz="4000" dirty="0"/>
          </a:p>
          <a:p>
            <a:pPr lvl="1" algn="just">
              <a:lnSpc>
                <a:spcPts val="3999"/>
              </a:lnSpc>
              <a:spcBef>
                <a:spcPct val="0"/>
              </a:spcBef>
            </a:pPr>
            <a:r>
              <a:rPr lang="en-US" sz="4000" dirty="0"/>
              <a:t>Expected Impact: +5-10% accuracy → 67-70% (approaching SOTA 67-71%)</a:t>
            </a:r>
            <a:endParaRPr lang="en-US" sz="3999" dirty="0">
              <a:solidFill>
                <a:srgbClr val="000000"/>
              </a:solidFill>
              <a:latin typeface="Saira"/>
              <a:ea typeface="Saira"/>
              <a:cs typeface="Saira"/>
              <a:sym typeface="Saira"/>
            </a:endParaRPr>
          </a:p>
        </p:txBody>
      </p:sp>
      <p:sp>
        <p:nvSpPr>
          <p:cNvPr id="4" name="TextBox 4">
            <a:extLst>
              <a:ext uri="{FF2B5EF4-FFF2-40B4-BE49-F238E27FC236}">
                <a16:creationId xmlns:a16="http://schemas.microsoft.com/office/drawing/2014/main" id="{80EEDD57-3341-91B5-6053-B73100D5BCD5}"/>
              </a:ext>
            </a:extLst>
          </p:cNvPr>
          <p:cNvSpPr txBox="1"/>
          <p:nvPr/>
        </p:nvSpPr>
        <p:spPr>
          <a:xfrm>
            <a:off x="4040451" y="1577709"/>
            <a:ext cx="6786347" cy="1116848"/>
          </a:xfrm>
          <a:prstGeom prst="rect">
            <a:avLst/>
          </a:prstGeom>
        </p:spPr>
        <p:txBody>
          <a:bodyPr lIns="0" tIns="0" rIns="0" bIns="0" rtlCol="0" anchor="t">
            <a:spAutoFit/>
          </a:bodyPr>
          <a:lstStyle/>
          <a:p>
            <a:pPr algn="ctr">
              <a:lnSpc>
                <a:spcPts val="8345"/>
              </a:lnSpc>
              <a:spcBef>
                <a:spcPct val="0"/>
              </a:spcBef>
            </a:pPr>
            <a:r>
              <a:rPr lang="en-US" sz="8345" b="1" dirty="0">
                <a:solidFill>
                  <a:srgbClr val="000000"/>
                </a:solidFill>
                <a:latin typeface="Saira Bold"/>
                <a:ea typeface="Saira Bold"/>
                <a:cs typeface="Saira Bold"/>
                <a:sym typeface="Saira Bold"/>
              </a:rPr>
              <a:t>Future Work</a:t>
            </a:r>
          </a:p>
        </p:txBody>
      </p:sp>
    </p:spTree>
    <p:extLst>
      <p:ext uri="{BB962C8B-B14F-4D97-AF65-F5344CB8AC3E}">
        <p14:creationId xmlns:p14="http://schemas.microsoft.com/office/powerpoint/2010/main" val="20823760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449127" y="1572413"/>
            <a:ext cx="603856" cy="498001"/>
          </a:xfrm>
          <a:custGeom>
            <a:avLst/>
            <a:gdLst/>
            <a:ahLst/>
            <a:cxnLst/>
            <a:rect l="l" t="t" r="r" b="b"/>
            <a:pathLst>
              <a:path w="603856" h="498001">
                <a:moveTo>
                  <a:pt x="0" y="0"/>
                </a:moveTo>
                <a:lnTo>
                  <a:pt x="603857" y="0"/>
                </a:lnTo>
                <a:lnTo>
                  <a:pt x="603857" y="498001"/>
                </a:lnTo>
                <a:lnTo>
                  <a:pt x="0" y="49800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4464094" y="5143500"/>
            <a:ext cx="9359812" cy="7283635"/>
          </a:xfrm>
          <a:custGeom>
            <a:avLst/>
            <a:gdLst/>
            <a:ahLst/>
            <a:cxnLst/>
            <a:rect l="l" t="t" r="r" b="b"/>
            <a:pathLst>
              <a:path w="9359812" h="7283635">
                <a:moveTo>
                  <a:pt x="0" y="0"/>
                </a:moveTo>
                <a:lnTo>
                  <a:pt x="9359812" y="0"/>
                </a:lnTo>
                <a:lnTo>
                  <a:pt x="9359812" y="7283635"/>
                </a:lnTo>
                <a:lnTo>
                  <a:pt x="0" y="728363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TextBox 4"/>
          <p:cNvSpPr txBox="1"/>
          <p:nvPr/>
        </p:nvSpPr>
        <p:spPr>
          <a:xfrm>
            <a:off x="4532715" y="2521077"/>
            <a:ext cx="9222571" cy="1536658"/>
          </a:xfrm>
          <a:prstGeom prst="rect">
            <a:avLst/>
          </a:prstGeom>
        </p:spPr>
        <p:txBody>
          <a:bodyPr lIns="0" tIns="0" rIns="0" bIns="0" rtlCol="0" anchor="t">
            <a:spAutoFit/>
          </a:bodyPr>
          <a:lstStyle/>
          <a:p>
            <a:pPr algn="ctr">
              <a:lnSpc>
                <a:spcPts val="11102"/>
              </a:lnSpc>
            </a:pPr>
            <a:r>
              <a:rPr lang="en-US" sz="12335" b="1">
                <a:solidFill>
                  <a:srgbClr val="2F1800"/>
                </a:solidFill>
                <a:latin typeface="Saira Bold"/>
                <a:ea typeface="Saira Bold"/>
                <a:cs typeface="Saira Bold"/>
                <a:sym typeface="Saira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TotalTime>
  <Words>1456</Words>
  <Application>Microsoft Office PowerPoint</Application>
  <PresentationFormat>Custom</PresentationFormat>
  <Paragraphs>133</Paragraphs>
  <Slides>18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Canva Sans Bold</vt:lpstr>
      <vt:lpstr>DM Sans Bold</vt:lpstr>
      <vt:lpstr>Saira Bold</vt:lpstr>
      <vt:lpstr>DM Sans</vt:lpstr>
      <vt:lpstr>DM Sans Bold Italics</vt:lpstr>
      <vt:lpstr>Calibri</vt:lpstr>
      <vt:lpstr>Arial</vt:lpstr>
      <vt:lpstr>Saira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 Report 2024</dc:title>
  <cp:lastModifiedBy>Jay Vipin Jajoo</cp:lastModifiedBy>
  <cp:revision>5</cp:revision>
  <dcterms:created xsi:type="dcterms:W3CDTF">2006-08-16T00:00:00Z</dcterms:created>
  <dcterms:modified xsi:type="dcterms:W3CDTF">2025-12-04T05:30:32Z</dcterms:modified>
  <dc:identifier>DAG4KpCigts</dc:identifier>
</cp:coreProperties>
</file>